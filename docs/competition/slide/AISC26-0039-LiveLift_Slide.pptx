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giây) Chào hội đồng. Nhóm LiveLift, mã AISC26-0039. Một câu: LiveLift là trợ lý cạnh người dẫn livestream, đọc bình luận và lượt thêm giỏ để gợi ý nên ghim sản phẩm nào tiếp theo, và nói rõ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Đây là tình huống minh họa, không phải số liệu đo. Người bán có rất nhiều con số về phiên đã qua, nhưng không có gì giúp họ quyết định ngay lúc đang live. Đó là khoảng trống LiveLift nhắm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Ba chế độ đã có trong hồ sơ vòng 1. Hôm nay trọng tâm là chế độ Đề xuất, vì nó chạy được ngay và hữu ích ngay. Chế độ Thí nghiệm là nền khoa học bên dưới, đang khóa cho đến khi có phiên đủ dài và đủ người xem. Chúng em không giả vờ nó đang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30) Đây là Live Desk trong bản mockup. Giữa màn hình là câu trả lời lớn nhất. Bên dưới là ba con số làm cơ sở và độ tin cậy. Người vận hành bấm Ghim hoặc Bỏ qua. Trợ lý không bao giờ tự ghim.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Người vận hành ghim bất cứ lúc nào. Mỗi lần ghim là một vạch trên biểu đồ. Quan trọng: vạch chỉ cho biết thời điểm, chúng em không nói ghim là nguyên nhân. Chỗ nào mất dữ liệu, chúng em vẽ sọc chéo thay vì điền số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30) Chủ đề yêu cầu sáu việc. Trong sản phẩm, mỗi việc có một chỗ trên màn hình. Nút Hành trình dữ liệu hiện sáu huy hiệu đánh số lên đúng phần tử thật. Em chỉ nhanh từ 1 đến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Nói thẳng: bản demo dùng dữ liệu mô phỏng. Đường dữ liệu thật phụ thuộc quyền truy cập của người bán. Shopee có API nhưng cần shop hạng Mall hoặc Preferred. TikTok không có API công khai cho việc ghim, nên người vận hành làm tay rồi báo lại. Chúng em chỉ dùng nguồn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Đây là điểm khác biệt. Trong livestream, rất dễ nhầm giữa không có dữ liệu và bằng không, giữa gợi ý và đã làm, giữa quan sát và nhân quả. Hệ thống tách bạch từng cặp và tự báo khi thiếu.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Đây là phần đánh giá hiệu quả của phiên. Chúng em liệt kê gợi ý nào được nhận, bỏ qua, hay người vận hành tự làm. Và quan trọng hơn, ô Điều chưa biết: chưa kết luận được ghim có làm tăng thêm giỏ hay không, vì người xem cũng tăng cùng lúc.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30) Phần này nhanh thôi. Bộ ước lượng của chế độ Thí nghiệm được kiểm tra bằng 200 lần mô phỏng không có tác động: bác bỏ 3,5%, gần mức 5% danh nghĩa. Thu hồi tác động biết trước lệch dưới 1%. Con số MDE 16,4% cho biết cỡ tác động nhỏ nhất phát hiện được ở khoảng 59 người xem. Tất cả là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Từ hồ sơ vòng 1 đến nay, chúng em kiểm toán lại và phát hiện một số con số không tái lập được. Chúng em chủ động đính chính ngay tại đây thay vì để hội đồng phát hiện. Số mới đều chạy lại được bằng một lệnh.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30) Chúng em nói rõ chưa làm được gì. Đây là phần dễ bị hỏi nhất. Chúng em chưa có buổi live thật nào và chưa phỏng vấn người bán. Kế hoạch là dùng vòng 3 có mentor doanh nghiệp để tìm 2 đến 3 người bán, và đo bằng chỉ số rõ ràng, ghi nhãn quan sát khi chưa đủ bằng chứng nhân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Mọi thứ trong bản demo hôm nay là mockup và mô phỏng. Từ giờ đến chung kết, ưu tiên là sản phẩm thật có cơ sở dữ liệu, giao diện dựng lại theo mockup, và thử với người bán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giây) Cảm ơn hội đồng. Chúng em sẵn sàng trả lời. Nếu được hỏi về dữ liệu thật: chúng em chưa có và nói thẳng điều đó; kế hoạch ở slide 12 và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640080" y="6400800"/>
            <a:ext cx="8229600" cy="274320"/>
          </a:xfrm>
          <a:prstGeom prst="rect">
            <a:avLst/>
          </a:prstGeom>
          <a:noFill/>
          <a:ln/>
        </p:spPr>
        <p:txBody>
          <a:bodyPr wrap="square" lIns="0" tIns="0" rIns="0" bIns="0" rtlCol="0" anchor="ctr"/>
          <a:lstStyle/>
          <a:p>
            <a:pPr indent="0" marL="0">
              <a:buNone/>
            </a:pPr>
            <a:r>
              <a:rPr lang="en-US" sz="1000" dirty="0">
                <a:solidFill>
                  <a:srgbClr val="5A5047"/>
                </a:solidFill>
                <a:latin typeface="Calibri" pitchFamily="34" charset="0"/>
                <a:ea typeface="Calibri" pitchFamily="34" charset="-122"/>
                <a:cs typeface="Calibri" pitchFamily="34" charset="-120"/>
              </a:rPr>
              <a:t>LiveLift · AISC26-0039 · dữ liệu và ảnh minh họa là SIMULATED</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A252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40080"/>
            <a:ext cx="8229600" cy="274320"/>
          </a:xfrm>
          <a:prstGeom prst="rect">
            <a:avLst/>
          </a:prstGeom>
          <a:noFill/>
          <a:ln/>
        </p:spPr>
        <p:txBody>
          <a:bodyPr wrap="square" lIns="0" tIns="0" rIns="0" bIns="0" rtlCol="0" anchor="t"/>
          <a:lstStyle/>
          <a:p>
            <a:pPr indent="0" marL="0">
              <a:buNone/>
            </a:pPr>
            <a:r>
              <a:rPr lang="en-US" sz="1200" b="1" spc="300" kern="0" dirty="0">
                <a:solidFill>
                  <a:srgbClr val="C9B48A"/>
                </a:solidFill>
                <a:latin typeface="Calibri" pitchFamily="34" charset="0"/>
                <a:ea typeface="Calibri" pitchFamily="34" charset="-122"/>
                <a:cs typeface="Calibri" pitchFamily="34" charset="-120"/>
              </a:rPr>
              <a:t>AISC'26 · DATA DRIVEN BUSINESS · MÃ HỒ SƠ AISC26-0039</a:t>
            </a:r>
            <a:endParaRPr lang="en-US" sz="1200" dirty="0"/>
          </a:p>
        </p:txBody>
      </p:sp>
      <p:sp>
        <p:nvSpPr>
          <p:cNvPr id="3" name="Text 1"/>
          <p:cNvSpPr txBox="1"/>
          <p:nvPr/>
        </p:nvSpPr>
        <p:spPr>
          <a:xfrm>
            <a:off x="731520" y="1554480"/>
            <a:ext cx="6400800" cy="1463040"/>
          </a:xfrm>
          <a:prstGeom prst="rect">
            <a:avLst/>
          </a:prstGeom>
          <a:noFill/>
          <a:ln/>
        </p:spPr>
        <p:txBody>
          <a:bodyPr wrap="square" lIns="0" tIns="0" rIns="0" bIns="0" rtlCol="0" anchor="t"/>
          <a:lstStyle/>
          <a:p>
            <a:pPr indent="0" marL="0">
              <a:buNone/>
            </a:pPr>
            <a:r>
              <a:rPr lang="en-US" sz="8800" dirty="0">
                <a:solidFill>
                  <a:srgbClr val="F6F3EE"/>
                </a:solidFill>
                <a:latin typeface="Calibri" pitchFamily="34" charset="0"/>
                <a:ea typeface="Calibri" pitchFamily="34" charset="-122"/>
                <a:cs typeface="Calibri" pitchFamily="34" charset="-120"/>
              </a:rPr>
              <a:t>Live</a:t>
            </a:r>
            <a:pPr indent="0" marL="0">
              <a:buNone/>
            </a:pPr>
            <a:r>
              <a:rPr lang="en-US" sz="8800" dirty="0">
                <a:solidFill>
                  <a:srgbClr val="E3917A"/>
                </a:solidFill>
                <a:latin typeface="Calibri" pitchFamily="34" charset="0"/>
                <a:ea typeface="Calibri" pitchFamily="34" charset="-122"/>
                <a:cs typeface="Calibri" pitchFamily="34" charset="-120"/>
              </a:rPr>
              <a:t>Lift</a:t>
            </a:r>
            <a:endParaRPr lang="en-US" sz="8800" dirty="0"/>
          </a:p>
        </p:txBody>
      </p:sp>
      <p:sp>
        <p:nvSpPr>
          <p:cNvPr id="4" name="Text 2"/>
          <p:cNvSpPr txBox="1"/>
          <p:nvPr/>
        </p:nvSpPr>
        <p:spPr>
          <a:xfrm>
            <a:off x="731520" y="3200400"/>
            <a:ext cx="5852160" cy="1280160"/>
          </a:xfrm>
          <a:prstGeom prst="rect">
            <a:avLst/>
          </a:prstGeom>
          <a:noFill/>
          <a:ln/>
        </p:spPr>
        <p:txBody>
          <a:bodyPr wrap="square" lIns="0" tIns="0" rIns="0" bIns="0" rtlCol="0" anchor="t"/>
          <a:lstStyle/>
          <a:p>
            <a:pPr indent="0" marL="0">
              <a:buNone/>
            </a:pPr>
            <a:r>
              <a:rPr lang="en-US" sz="2200" dirty="0">
                <a:solidFill>
                  <a:srgbClr val="EFE6D3"/>
                </a:solidFill>
                <a:latin typeface="Calibri" pitchFamily="34" charset="0"/>
                <a:ea typeface="Calibri" pitchFamily="34" charset="-122"/>
                <a:cs typeface="Calibri" pitchFamily="34" charset="-120"/>
              </a:rPr>
              <a:t>Trợ lý quyết định cho người bán hàng livestream: biến bình luận và lượt thêm giỏ thành quyết định ghim tiếp theo, kèm lý do.</a:t>
            </a:r>
            <a:endParaRPr lang="en-US" sz="2200" dirty="0"/>
          </a:p>
        </p:txBody>
      </p:sp>
      <p:sp>
        <p:nvSpPr>
          <p:cNvPr id="5" name="Text 3"/>
          <p:cNvSpPr txBox="1"/>
          <p:nvPr/>
        </p:nvSpPr>
        <p:spPr>
          <a:xfrm>
            <a:off x="731520" y="5394960"/>
            <a:ext cx="6400800" cy="731520"/>
          </a:xfrm>
          <a:prstGeom prst="rect">
            <a:avLst/>
          </a:prstGeom>
          <a:noFill/>
          <a:ln/>
        </p:spPr>
        <p:txBody>
          <a:bodyPr wrap="square" lIns="0" tIns="0" rIns="0" bIns="0" rtlCol="0" anchor="t"/>
          <a:lstStyle/>
          <a:p>
            <a:pPr indent="0" marL="0">
              <a:buNone/>
            </a:pPr>
            <a:r>
              <a:rPr lang="en-US" sz="1400" dirty="0">
                <a:solidFill>
                  <a:srgbClr val="B9B6AD"/>
                </a:solidFill>
                <a:latin typeface="Calibri" pitchFamily="34" charset="0"/>
                <a:ea typeface="Calibri" pitchFamily="34" charset="-122"/>
                <a:cs typeface="Calibri" pitchFamily="34" charset="-120"/>
              </a:rPr>
              <a:t>Nhóm LiveLift</a:t>
            </a:r>
            <a:endParaRPr lang="en-US" sz="1400" dirty="0"/>
          </a:p>
          <a:p>
            <a:pPr indent="0" marL="0">
              <a:buNone/>
            </a:pPr>
            <a:r>
              <a:rPr lang="en-US" sz="1400" dirty="0">
                <a:solidFill>
                  <a:srgbClr val="B9B6AD"/>
                </a:solidFill>
                <a:latin typeface="Calibri" pitchFamily="34" charset="0"/>
                <a:ea typeface="Calibri" pitchFamily="34" charset="-122"/>
                <a:cs typeface="Calibri" pitchFamily="34" charset="-120"/>
              </a:rPr>
              <a:t>Ngô Bình Minh (đội trưởng) · Lê Xuân Khánh · Ngô Lâm Tiến</a:t>
            </a:r>
            <a:endParaRPr lang="en-US" sz="1400" dirty="0"/>
          </a:p>
        </p:txBody>
      </p:sp>
      <p:sp>
        <p:nvSpPr>
          <p:cNvPr id="6" name="Shape 4"/>
          <p:cNvSpPr/>
          <p:nvPr/>
        </p:nvSpPr>
        <p:spPr>
          <a:xfrm rot="-240000">
            <a:off x="7406640" y="1417320"/>
            <a:ext cx="4114800" cy="3017520"/>
          </a:xfrm>
          <a:prstGeom prst="rect">
            <a:avLst/>
          </a:prstGeom>
          <a:solidFill>
            <a:srgbClr val="FBF7EF"/>
          </a:solidFill>
          <a:ln w="12700">
            <a:solidFill>
              <a:srgbClr val="FBF7EF"/>
            </a:solidFill>
            <a:prstDash val="solid"/>
          </a:ln>
          <a:effectLst>
            <a:outerShdw sx="100000" sy="100000" kx="0" ky="0" algn="bl" rotWithShape="0" blurRad="177800" dist="50800" dir="5400000">
              <a:srgbClr val="000000">
                <a:alpha val="40000"/>
              </a:srgbClr>
            </a:outerShdw>
          </a:effectLst>
        </p:spPr>
      </p:sp>
      <p:sp>
        <p:nvSpPr>
          <p:cNvPr id="7" name="Shape 5"/>
          <p:cNvSpPr/>
          <p:nvPr/>
        </p:nvSpPr>
        <p:spPr>
          <a:xfrm rot="-420000">
            <a:off x="8732520" y="1188720"/>
            <a:ext cx="1371600" cy="384048"/>
          </a:xfrm>
          <a:prstGeom prst="rect">
            <a:avLst/>
          </a:prstGeom>
          <a:solidFill>
            <a:srgbClr val="C9B48A">
              <a:alpha val="88000"/>
            </a:srgbClr>
          </a:solidFill>
          <a:ln w="12700">
            <a:solidFill>
              <a:srgbClr val="C9B48A">
                <a:alpha val="88000"/>
              </a:srgbClr>
            </a:solidFill>
            <a:prstDash val="solid"/>
          </a:ln>
        </p:spPr>
      </p:sp>
      <p:sp>
        <p:nvSpPr>
          <p:cNvPr id="8" name="Text 6"/>
          <p:cNvSpPr txBox="1"/>
          <p:nvPr/>
        </p:nvSpPr>
        <p:spPr>
          <a:xfrm rot="-240000">
            <a:off x="7772400" y="2057400"/>
            <a:ext cx="2743200" cy="274320"/>
          </a:xfrm>
          <a:prstGeom prst="rect">
            <a:avLst/>
          </a:prstGeom>
          <a:noFill/>
          <a:ln/>
        </p:spPr>
        <p:txBody>
          <a:bodyPr wrap="square" lIns="0" tIns="0" rIns="0" bIns="0" rtlCol="0" anchor="t"/>
          <a:lstStyle/>
          <a:p>
            <a:pPr indent="0" marL="0">
              <a:buNone/>
            </a:pPr>
            <a:r>
              <a:rPr lang="en-US" sz="1200" b="1" spc="300" kern="0" dirty="0">
                <a:solidFill>
                  <a:srgbClr val="9E3B2B"/>
                </a:solidFill>
                <a:latin typeface="Calibri" pitchFamily="34" charset="0"/>
                <a:ea typeface="Calibri" pitchFamily="34" charset="-122"/>
                <a:cs typeface="Calibri" pitchFamily="34" charset="-120"/>
              </a:rPr>
              <a:t>ĐANG GHIM</a:t>
            </a:r>
            <a:endParaRPr lang="en-US" sz="1200" dirty="0"/>
          </a:p>
        </p:txBody>
      </p:sp>
      <p:sp>
        <p:nvSpPr>
          <p:cNvPr id="9" name="Text 7"/>
          <p:cNvSpPr txBox="1"/>
          <p:nvPr/>
        </p:nvSpPr>
        <p:spPr>
          <a:xfrm rot="-240000">
            <a:off x="7726680" y="2423160"/>
            <a:ext cx="3566160" cy="1280160"/>
          </a:xfrm>
          <a:prstGeom prst="rect">
            <a:avLst/>
          </a:prstGeom>
          <a:noFill/>
          <a:ln/>
        </p:spPr>
        <p:txBody>
          <a:bodyPr wrap="square" lIns="0" tIns="0" rIns="0" bIns="0" rtlCol="0" anchor="t"/>
          <a:lstStyle/>
          <a:p>
            <a:pPr indent="0" marL="0">
              <a:buNone/>
            </a:pPr>
            <a:r>
              <a:rPr lang="en-US" sz="3200" dirty="0">
                <a:solidFill>
                  <a:srgbClr val="2A2522"/>
                </a:solidFill>
                <a:latin typeface="Calibri" pitchFamily="34" charset="0"/>
                <a:ea typeface="Calibri" pitchFamily="34" charset="-122"/>
                <a:cs typeface="Calibri" pitchFamily="34" charset="-120"/>
              </a:rPr>
              <a:t>Nên ghim tiếp:</a:t>
            </a:r>
            <a:endParaRPr lang="en-US" sz="3200" dirty="0"/>
          </a:p>
          <a:p>
            <a:pPr indent="0" marL="0">
              <a:buNone/>
            </a:pPr>
            <a:r>
              <a:rPr lang="en-US" sz="3200" dirty="0">
                <a:solidFill>
                  <a:srgbClr val="2A2522"/>
                </a:solidFill>
                <a:latin typeface="Calibri" pitchFamily="34" charset="0"/>
                <a:ea typeface="Calibri" pitchFamily="34" charset="-122"/>
                <a:cs typeface="Calibri" pitchFamily="34" charset="-120"/>
              </a:rPr>
              <a:t>Quần cargo</a:t>
            </a:r>
            <a:endParaRPr lang="en-US" sz="3200" dirty="0"/>
          </a:p>
        </p:txBody>
      </p:sp>
      <p:sp>
        <p:nvSpPr>
          <p:cNvPr id="10" name="Text 8"/>
          <p:cNvSpPr txBox="1"/>
          <p:nvPr/>
        </p:nvSpPr>
        <p:spPr>
          <a:xfrm rot="-240000">
            <a:off x="7635240" y="3749040"/>
            <a:ext cx="3657600" cy="365760"/>
          </a:xfrm>
          <a:prstGeom prst="rect">
            <a:avLst/>
          </a:prstGeom>
          <a:noFill/>
          <a:ln/>
        </p:spPr>
        <p:txBody>
          <a:bodyPr wrap="square" lIns="0" tIns="0" rIns="0" bIns="0" rtlCol="0" anchor="t"/>
          <a:lstStyle/>
          <a:p>
            <a:pPr indent="0" marL="0">
              <a:buNone/>
            </a:pPr>
            <a:r>
              <a:rPr lang="en-US" sz="1400" dirty="0">
                <a:solidFill>
                  <a:srgbClr val="5A5047"/>
                </a:solidFill>
                <a:latin typeface="Calibri" pitchFamily="34" charset="0"/>
                <a:ea typeface="Calibri" pitchFamily="34" charset="-122"/>
                <a:cs typeface="Calibri" pitchFamily="34" charset="-120"/>
              </a:rPr>
              <a:t>7 người hỏi giá · 8 lượt thêm giỏ · còn 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Người bán livestream ghim sản phẩm bằng cảm tính</a:t>
            </a:r>
            <a:endParaRPr lang="en-US" sz="3400" dirty="0"/>
          </a:p>
        </p:txBody>
      </p:sp>
      <p:sp>
        <p:nvSpPr>
          <p:cNvPr id="3" name="Text 1"/>
          <p:cNvSpPr txBox="1"/>
          <p:nvPr/>
        </p:nvSpPr>
        <p:spPr>
          <a:xfrm>
            <a:off x="640080" y="1737360"/>
            <a:ext cx="4572000" cy="274320"/>
          </a:xfrm>
          <a:prstGeom prst="rect">
            <a:avLst/>
          </a:prstGeom>
          <a:noFill/>
          <a:ln/>
        </p:spPr>
        <p:txBody>
          <a:bodyPr wrap="square" lIns="0" tIns="0" rIns="0" bIns="0" rtlCol="0" anchor="t"/>
          <a:lstStyle/>
          <a:p>
            <a:pPr indent="0" marL="0">
              <a:buNone/>
            </a:pPr>
            <a:r>
              <a:rPr lang="en-US" sz="1200" b="1" spc="200" kern="0" dirty="0">
                <a:solidFill>
                  <a:srgbClr val="9E3B2B"/>
                </a:solidFill>
                <a:latin typeface="Calibri" pitchFamily="34" charset="0"/>
                <a:ea typeface="Calibri" pitchFamily="34" charset="-122"/>
                <a:cs typeface="Calibri" pitchFamily="34" charset="-120"/>
              </a:rPr>
              <a:t>TÌNH HUỐNG MINH HỌA</a:t>
            </a:r>
            <a:endParaRPr lang="en-US" sz="1200" dirty="0"/>
          </a:p>
        </p:txBody>
      </p:sp>
      <p:sp>
        <p:nvSpPr>
          <p:cNvPr id="4" name="Text 2"/>
          <p:cNvSpPr txBox="1"/>
          <p:nvPr/>
        </p:nvSpPr>
        <p:spPr>
          <a:xfrm>
            <a:off x="640080" y="2103120"/>
            <a:ext cx="4937760" cy="1097280"/>
          </a:xfrm>
          <a:prstGeom prst="rect">
            <a:avLst/>
          </a:prstGeom>
          <a:noFill/>
          <a:ln/>
        </p:spPr>
        <p:txBody>
          <a:bodyPr wrap="square" lIns="0" tIns="0" rIns="0" bIns="0" rtlCol="0" anchor="t"/>
          <a:lstStyle/>
          <a:p>
            <a:pPr indent="0" marL="0">
              <a:buNone/>
            </a:pPr>
            <a:r>
              <a:rPr lang="en-US" sz="2400" dirty="0">
                <a:solidFill>
                  <a:srgbClr val="2A2522"/>
                </a:solidFill>
                <a:latin typeface="Calibri" pitchFamily="34" charset="0"/>
                <a:ea typeface="Calibri" pitchFamily="34" charset="-122"/>
                <a:cs typeface="Calibri" pitchFamily="34" charset="-120"/>
              </a:rPr>
              <a:t>Phút 30, ghim sản phẩm B.</a:t>
            </a:r>
            <a:endParaRPr lang="en-US" sz="2400" dirty="0"/>
          </a:p>
          <a:p>
            <a:pPr indent="0" marL="0">
              <a:buNone/>
            </a:pPr>
            <a:r>
              <a:rPr lang="en-US" sz="2400" dirty="0">
                <a:solidFill>
                  <a:srgbClr val="2A2522"/>
                </a:solidFill>
                <a:latin typeface="Calibri" pitchFamily="34" charset="0"/>
                <a:ea typeface="Calibri" pitchFamily="34" charset="-122"/>
                <a:cs typeface="Calibri" pitchFamily="34" charset="-120"/>
              </a:rPr>
              <a:t>Phút 35, lượt bấm vào B tăng.</a:t>
            </a:r>
            <a:endParaRPr lang="en-US" sz="2400" dirty="0"/>
          </a:p>
        </p:txBody>
      </p:sp>
      <p:sp>
        <p:nvSpPr>
          <p:cNvPr id="5" name="Text 3"/>
          <p:cNvSpPr txBox="1"/>
          <p:nvPr/>
        </p:nvSpPr>
        <p:spPr>
          <a:xfrm>
            <a:off x="640080" y="3474720"/>
            <a:ext cx="4937760" cy="1463040"/>
          </a:xfrm>
          <a:prstGeom prst="rect">
            <a:avLst/>
          </a:prstGeom>
          <a:noFill/>
          <a:ln/>
        </p:spPr>
        <p:txBody>
          <a:bodyPr wrap="square" lIns="0" tIns="0" rIns="0" bIns="0" rtlCol="0" anchor="t"/>
          <a:lstStyle/>
          <a:p>
            <a:pPr indent="0" marL="0">
              <a:buNone/>
            </a:pPr>
            <a:r>
              <a:rPr lang="en-US" sz="1600" dirty="0">
                <a:solidFill>
                  <a:srgbClr val="5A5047"/>
                </a:solidFill>
                <a:latin typeface="Calibri" pitchFamily="34" charset="0"/>
                <a:ea typeface="Calibri" pitchFamily="34" charset="-122"/>
                <a:cs typeface="Calibri" pitchFamily="34" charset="-120"/>
              </a:rPr>
              <a:t>Do lệnh ghim? Do nền tảng vừa đẩy thêm người vào phòng? Hay do người dẫn vừa kể một câu chuyện hay? Tối đó tổng kết, không ai trả lời được.</a:t>
            </a:r>
            <a:endParaRPr lang="en-US" sz="1600" dirty="0"/>
          </a:p>
        </p:txBody>
      </p:sp>
      <p:sp>
        <p:nvSpPr>
          <p:cNvPr id="6" name="Shape 4"/>
          <p:cNvSpPr/>
          <p:nvPr/>
        </p:nvSpPr>
        <p:spPr>
          <a:xfrm>
            <a:off x="6309360" y="1737360"/>
            <a:ext cx="5212080" cy="0"/>
          </a:xfrm>
          <a:prstGeom prst="line">
            <a:avLst/>
          </a:prstGeom>
          <a:noFill/>
          <a:ln w="12700">
            <a:solidFill>
              <a:srgbClr val="2A2522"/>
            </a:solidFill>
            <a:prstDash val="solid"/>
          </a:ln>
        </p:spPr>
      </p:sp>
      <p:sp>
        <p:nvSpPr>
          <p:cNvPr id="7" name="Text 5"/>
          <p:cNvSpPr txBox="1"/>
          <p:nvPr/>
        </p:nvSpPr>
        <p:spPr>
          <a:xfrm>
            <a:off x="6309360" y="1828800"/>
            <a:ext cx="5212080" cy="457200"/>
          </a:xfrm>
          <a:prstGeom prst="rect">
            <a:avLst/>
          </a:prstGeom>
          <a:noFill/>
          <a:ln/>
        </p:spPr>
        <p:txBody>
          <a:bodyPr wrap="square" lIns="0" tIns="0" rIns="0" bIns="0" rtlCol="0" anchor="t"/>
          <a:lstStyle/>
          <a:p>
            <a:pPr indent="0" marL="0">
              <a:buNone/>
            </a:pPr>
            <a:r>
              <a:rPr lang="en-US" sz="2000" b="1" dirty="0">
                <a:solidFill>
                  <a:srgbClr val="2A2522"/>
                </a:solidFill>
                <a:latin typeface="Calibri" pitchFamily="34" charset="0"/>
                <a:ea typeface="Calibri" pitchFamily="34" charset="-122"/>
                <a:cs typeface="Calibri" pitchFamily="34" charset="-120"/>
              </a:rPr>
              <a:t>Bảng điều khiển của nền tảng</a:t>
            </a:r>
            <a:endParaRPr lang="en-US" sz="2000" dirty="0"/>
          </a:p>
        </p:txBody>
      </p:sp>
      <p:sp>
        <p:nvSpPr>
          <p:cNvPr id="8" name="Text 6"/>
          <p:cNvSpPr txBox="1"/>
          <p:nvPr/>
        </p:nvSpPr>
        <p:spPr>
          <a:xfrm>
            <a:off x="6309360" y="2286000"/>
            <a:ext cx="5212080" cy="548640"/>
          </a:xfrm>
          <a:prstGeom prst="rect">
            <a:avLst/>
          </a:prstGeom>
          <a:noFill/>
          <a:ln/>
        </p:spPr>
        <p:txBody>
          <a:bodyPr wrap="square" lIns="0" tIns="0" rIns="0" bIns="0" rtlCol="0" anchor="t"/>
          <a:lstStyle/>
          <a:p>
            <a:pPr indent="0" marL="0">
              <a:buNone/>
            </a:pPr>
            <a:r>
              <a:rPr lang="en-US" sz="1600" dirty="0">
                <a:solidFill>
                  <a:srgbClr val="5A5047"/>
                </a:solidFill>
                <a:latin typeface="Calibri" pitchFamily="34" charset="0"/>
                <a:ea typeface="Calibri" pitchFamily="34" charset="-122"/>
                <a:cs typeface="Calibri" pitchFamily="34" charset="-120"/>
              </a:rPr>
              <a:t>cho biết phiên vừa rồi bán được bao nhiêu</a:t>
            </a:r>
            <a:endParaRPr lang="en-US" sz="1600" dirty="0"/>
          </a:p>
        </p:txBody>
      </p:sp>
      <p:sp>
        <p:nvSpPr>
          <p:cNvPr id="9" name="Shape 7"/>
          <p:cNvSpPr/>
          <p:nvPr/>
        </p:nvSpPr>
        <p:spPr>
          <a:xfrm>
            <a:off x="6309360" y="2834640"/>
            <a:ext cx="5212080" cy="0"/>
          </a:xfrm>
          <a:prstGeom prst="line">
            <a:avLst/>
          </a:prstGeom>
          <a:noFill/>
          <a:ln w="12700">
            <a:solidFill>
              <a:srgbClr val="D8D0C4"/>
            </a:solidFill>
            <a:prstDash val="solid"/>
          </a:ln>
        </p:spPr>
      </p:sp>
      <p:sp>
        <p:nvSpPr>
          <p:cNvPr id="10" name="Text 8"/>
          <p:cNvSpPr txBox="1"/>
          <p:nvPr/>
        </p:nvSpPr>
        <p:spPr>
          <a:xfrm>
            <a:off x="6309360" y="3017520"/>
            <a:ext cx="5212080" cy="457200"/>
          </a:xfrm>
          <a:prstGeom prst="rect">
            <a:avLst/>
          </a:prstGeom>
          <a:noFill/>
          <a:ln/>
        </p:spPr>
        <p:txBody>
          <a:bodyPr wrap="square" lIns="0" tIns="0" rIns="0" bIns="0" rtlCol="0" anchor="t"/>
          <a:lstStyle/>
          <a:p>
            <a:pPr indent="0" marL="0">
              <a:buNone/>
            </a:pPr>
            <a:r>
              <a:rPr lang="en-US" sz="2000" b="1" dirty="0">
                <a:solidFill>
                  <a:srgbClr val="2A2522"/>
                </a:solidFill>
                <a:latin typeface="Calibri" pitchFamily="34" charset="0"/>
                <a:ea typeface="Calibri" pitchFamily="34" charset="-122"/>
                <a:cs typeface="Calibri" pitchFamily="34" charset="-120"/>
              </a:rPr>
              <a:t>Bảng tính, ghi chú, chat nhóm</a:t>
            </a:r>
            <a:endParaRPr lang="en-US" sz="2000" dirty="0"/>
          </a:p>
        </p:txBody>
      </p:sp>
      <p:sp>
        <p:nvSpPr>
          <p:cNvPr id="11" name="Text 9"/>
          <p:cNvSpPr txBox="1"/>
          <p:nvPr/>
        </p:nvSpPr>
        <p:spPr>
          <a:xfrm>
            <a:off x="6309360" y="3474720"/>
            <a:ext cx="5212080" cy="548640"/>
          </a:xfrm>
          <a:prstGeom prst="rect">
            <a:avLst/>
          </a:prstGeom>
          <a:noFill/>
          <a:ln/>
        </p:spPr>
        <p:txBody>
          <a:bodyPr wrap="square" lIns="0" tIns="0" rIns="0" bIns="0" rtlCol="0" anchor="t"/>
          <a:lstStyle/>
          <a:p>
            <a:pPr indent="0" marL="0">
              <a:buNone/>
            </a:pPr>
            <a:r>
              <a:rPr lang="en-US" sz="1600" dirty="0">
                <a:solidFill>
                  <a:srgbClr val="5A5047"/>
                </a:solidFill>
                <a:latin typeface="Calibri" pitchFamily="34" charset="0"/>
                <a:ea typeface="Calibri" pitchFamily="34" charset="-122"/>
                <a:cs typeface="Calibri" pitchFamily="34" charset="-120"/>
              </a:rPr>
              <a:t>ghi lại thao tác, không giải thích vì sao</a:t>
            </a:r>
            <a:endParaRPr lang="en-US" sz="1600" dirty="0"/>
          </a:p>
        </p:txBody>
      </p:sp>
      <p:sp>
        <p:nvSpPr>
          <p:cNvPr id="12" name="Shape 10"/>
          <p:cNvSpPr/>
          <p:nvPr/>
        </p:nvSpPr>
        <p:spPr>
          <a:xfrm>
            <a:off x="6309360" y="4023360"/>
            <a:ext cx="5212080" cy="0"/>
          </a:xfrm>
          <a:prstGeom prst="line">
            <a:avLst/>
          </a:prstGeom>
          <a:noFill/>
          <a:ln w="12700">
            <a:solidFill>
              <a:srgbClr val="D8D0C4"/>
            </a:solidFill>
            <a:prstDash val="solid"/>
          </a:ln>
        </p:spPr>
      </p:sp>
      <p:sp>
        <p:nvSpPr>
          <p:cNvPr id="13" name="Text 11"/>
          <p:cNvSpPr txBox="1"/>
          <p:nvPr/>
        </p:nvSpPr>
        <p:spPr>
          <a:xfrm>
            <a:off x="6309360" y="4206240"/>
            <a:ext cx="5212080" cy="457200"/>
          </a:xfrm>
          <a:prstGeom prst="rect">
            <a:avLst/>
          </a:prstGeom>
          <a:noFill/>
          <a:ln/>
        </p:spPr>
        <p:txBody>
          <a:bodyPr wrap="square" lIns="0" tIns="0" rIns="0" bIns="0" rtlCol="0" anchor="t"/>
          <a:lstStyle/>
          <a:p>
            <a:pPr indent="0" marL="0">
              <a:buNone/>
            </a:pPr>
            <a:r>
              <a:rPr lang="en-US" sz="2000" b="1" dirty="0">
                <a:solidFill>
                  <a:srgbClr val="2A2522"/>
                </a:solidFill>
                <a:latin typeface="Calibri" pitchFamily="34" charset="0"/>
                <a:ea typeface="Calibri" pitchFamily="34" charset="-122"/>
                <a:cs typeface="Calibri" pitchFamily="34" charset="-120"/>
              </a:rPr>
              <a:t>Cảm tính của người trợ live</a:t>
            </a:r>
            <a:endParaRPr lang="en-US" sz="2000" dirty="0"/>
          </a:p>
        </p:txBody>
      </p:sp>
      <p:sp>
        <p:nvSpPr>
          <p:cNvPr id="14" name="Text 12"/>
          <p:cNvSpPr txBox="1"/>
          <p:nvPr/>
        </p:nvSpPr>
        <p:spPr>
          <a:xfrm>
            <a:off x="6309360" y="4663440"/>
            <a:ext cx="5212080" cy="548640"/>
          </a:xfrm>
          <a:prstGeom prst="rect">
            <a:avLst/>
          </a:prstGeom>
          <a:noFill/>
          <a:ln/>
        </p:spPr>
        <p:txBody>
          <a:bodyPr wrap="square" lIns="0" tIns="0" rIns="0" bIns="0" rtlCol="0" anchor="t"/>
          <a:lstStyle/>
          <a:p>
            <a:pPr indent="0" marL="0">
              <a:buNone/>
            </a:pPr>
            <a:r>
              <a:rPr lang="en-US" sz="1600" dirty="0">
                <a:solidFill>
                  <a:srgbClr val="5A5047"/>
                </a:solidFill>
                <a:latin typeface="Calibri" pitchFamily="34" charset="0"/>
                <a:ea typeface="Calibri" pitchFamily="34" charset="-122"/>
                <a:cs typeface="Calibri" pitchFamily="34" charset="-120"/>
              </a:rPr>
              <a:t>quyết định ghim gì, lúc nào, khó lặp lại</a:t>
            </a:r>
            <a:endParaRPr lang="en-US" sz="1600" dirty="0"/>
          </a:p>
        </p:txBody>
      </p:sp>
      <p:sp>
        <p:nvSpPr>
          <p:cNvPr id="15" name="Shape 13"/>
          <p:cNvSpPr/>
          <p:nvPr/>
        </p:nvSpPr>
        <p:spPr>
          <a:xfrm>
            <a:off x="6309360" y="5212080"/>
            <a:ext cx="5212080" cy="0"/>
          </a:xfrm>
          <a:prstGeom prst="line">
            <a:avLst/>
          </a:prstGeom>
          <a:noFill/>
          <a:ln w="12700">
            <a:solidFill>
              <a:srgbClr val="D8D0C4"/>
            </a:solidFill>
            <a:prstDash val="solid"/>
          </a:ln>
        </p:spPr>
      </p:sp>
      <p:sp>
        <p:nvSpPr>
          <p:cNvPr id="16" name="Text 14"/>
          <p:cNvSpPr txBox="1"/>
          <p:nvPr/>
        </p:nvSpPr>
        <p:spPr>
          <a:xfrm>
            <a:off x="640080" y="5486400"/>
            <a:ext cx="10881360" cy="548640"/>
          </a:xfrm>
          <a:prstGeom prst="rect">
            <a:avLst/>
          </a:prstGeom>
          <a:noFill/>
          <a:ln/>
        </p:spPr>
        <p:txBody>
          <a:bodyPr wrap="square" lIns="0" tIns="0" rIns="0" bIns="0" rtlCol="0" anchor="t"/>
          <a:lstStyle/>
          <a:p>
            <a:pPr indent="0" marL="0">
              <a:buNone/>
            </a:pPr>
            <a:r>
              <a:rPr lang="en-US" sz="2000" b="1" dirty="0">
                <a:solidFill>
                  <a:srgbClr val="9E3B2B"/>
                </a:solidFill>
                <a:latin typeface="Calibri" pitchFamily="34" charset="0"/>
                <a:ea typeface="Calibri" pitchFamily="34" charset="-122"/>
                <a:cs typeface="Calibri" pitchFamily="34" charset="-120"/>
              </a:rPr>
              <a:t>Chưa có công cụ nào trả lời câu hỏi: bây giờ nên ghim gì?</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LiveLift: một trợ lý, ba chế độ, mỗi chế độ trả lời một câu hỏi</a:t>
            </a:r>
            <a:endParaRPr lang="en-US" sz="3400" dirty="0"/>
          </a:p>
        </p:txBody>
      </p:sp>
      <p:sp>
        <p:nvSpPr>
          <p:cNvPr id="3" name="Shape 1"/>
          <p:cNvSpPr/>
          <p:nvPr/>
        </p:nvSpPr>
        <p:spPr>
          <a:xfrm>
            <a:off x="640080" y="1783080"/>
            <a:ext cx="3429000" cy="0"/>
          </a:xfrm>
          <a:prstGeom prst="line">
            <a:avLst/>
          </a:prstGeom>
          <a:noFill/>
          <a:ln w="12700">
            <a:solidFill>
              <a:srgbClr val="2A2522"/>
            </a:solidFill>
            <a:prstDash val="solid"/>
          </a:ln>
        </p:spPr>
      </p:sp>
      <p:sp>
        <p:nvSpPr>
          <p:cNvPr id="4" name="Text 2"/>
          <p:cNvSpPr txBox="1"/>
          <p:nvPr/>
        </p:nvSpPr>
        <p:spPr>
          <a:xfrm>
            <a:off x="640080" y="1920240"/>
            <a:ext cx="3383280" cy="274320"/>
          </a:xfrm>
          <a:prstGeom prst="rect">
            <a:avLst/>
          </a:prstGeom>
          <a:noFill/>
          <a:ln/>
        </p:spPr>
        <p:txBody>
          <a:bodyPr wrap="square" lIns="0" tIns="0" rIns="0" bIns="0" rtlCol="0" anchor="t"/>
          <a:lstStyle/>
          <a:p>
            <a:pPr indent="0" marL="0">
              <a:buNone/>
            </a:pPr>
            <a:r>
              <a:rPr lang="en-US" sz="1200" b="1" spc="200" kern="0" dirty="0">
                <a:solidFill>
                  <a:srgbClr val="4F3D86"/>
                </a:solidFill>
                <a:latin typeface="Calibri" pitchFamily="34" charset="0"/>
                <a:ea typeface="Calibri" pitchFamily="34" charset="-122"/>
                <a:cs typeface="Calibri" pitchFamily="34" charset="-120"/>
              </a:rPr>
              <a:t>QUAN SÁT</a:t>
            </a:r>
            <a:endParaRPr lang="en-US" sz="1200" dirty="0"/>
          </a:p>
        </p:txBody>
      </p:sp>
      <p:sp>
        <p:nvSpPr>
          <p:cNvPr id="5" name="Text 3"/>
          <p:cNvSpPr txBox="1"/>
          <p:nvPr/>
        </p:nvSpPr>
        <p:spPr>
          <a:xfrm>
            <a:off x="640080" y="2286000"/>
            <a:ext cx="3383280" cy="1097280"/>
          </a:xfrm>
          <a:prstGeom prst="rect">
            <a:avLst/>
          </a:prstGeom>
          <a:noFill/>
          <a:ln/>
        </p:spPr>
        <p:txBody>
          <a:bodyPr wrap="square" lIns="0" tIns="0" rIns="0" bIns="0" rtlCol="0" anchor="t"/>
          <a:lstStyle/>
          <a:p>
            <a:pPr indent="0" marL="0">
              <a:buNone/>
            </a:pPr>
            <a:r>
              <a:rPr lang="en-US" sz="2200" dirty="0">
                <a:solidFill>
                  <a:srgbClr val="2A2522"/>
                </a:solidFill>
                <a:latin typeface="Calibri" pitchFamily="34" charset="0"/>
                <a:ea typeface="Calibri" pitchFamily="34" charset="-122"/>
                <a:cs typeface="Calibri" pitchFamily="34" charset="-120"/>
              </a:rPr>
              <a:t>Buổi live diễn ra thế nào?</a:t>
            </a:r>
            <a:endParaRPr lang="en-US" sz="2200" dirty="0"/>
          </a:p>
        </p:txBody>
      </p:sp>
      <p:sp>
        <p:nvSpPr>
          <p:cNvPr id="6" name="Text 4"/>
          <p:cNvSpPr txBox="1"/>
          <p:nvPr/>
        </p:nvSpPr>
        <p:spPr>
          <a:xfrm>
            <a:off x="640080" y="3520440"/>
            <a:ext cx="3383280" cy="1371600"/>
          </a:xfrm>
          <a:prstGeom prst="rect">
            <a:avLst/>
          </a:prstGeom>
          <a:noFill/>
          <a:ln/>
        </p:spPr>
        <p:txBody>
          <a:bodyPr wrap="square" lIns="0" tIns="0" rIns="0" bIns="0" rtlCol="0" anchor="t"/>
          <a:lstStyle/>
          <a:p>
            <a:pPr indent="0" marL="0">
              <a:buNone/>
            </a:pPr>
            <a:r>
              <a:rPr lang="en-US" sz="1500" dirty="0">
                <a:solidFill>
                  <a:srgbClr val="5A5047"/>
                </a:solidFill>
                <a:latin typeface="Calibri" pitchFamily="34" charset="0"/>
                <a:ea typeface="Calibri" pitchFamily="34" charset="-122"/>
                <a:cs typeface="Calibri" pitchFamily="34" charset="-120"/>
              </a:rPr>
              <a:t>Mô tả điều đã xảy ra, gắn nhãn "chưa kết luận nhân quả".</a:t>
            </a:r>
            <a:endParaRPr lang="en-US" sz="1500" dirty="0"/>
          </a:p>
        </p:txBody>
      </p:sp>
      <p:sp>
        <p:nvSpPr>
          <p:cNvPr id="7" name="Text 5"/>
          <p:cNvSpPr txBox="1"/>
          <p:nvPr/>
        </p:nvSpPr>
        <p:spPr>
          <a:xfrm>
            <a:off x="640080" y="5074920"/>
            <a:ext cx="3383280" cy="548640"/>
          </a:xfrm>
          <a:prstGeom prst="rect">
            <a:avLst/>
          </a:prstGeom>
          <a:noFill/>
          <a:ln/>
        </p:spPr>
        <p:txBody>
          <a:bodyPr wrap="square" lIns="0" tIns="0" rIns="0" bIns="0" rtlCol="0" anchor="t"/>
          <a:lstStyle/>
          <a:p>
            <a:pPr indent="0" marL="0">
              <a:buNone/>
            </a:pPr>
            <a:r>
              <a:rPr lang="en-US" sz="1300" b="1" dirty="0">
                <a:solidFill>
                  <a:srgbClr val="4F3D86"/>
                </a:solidFill>
                <a:latin typeface="Calibri" pitchFamily="34" charset="0"/>
                <a:ea typeface="Calibri" pitchFamily="34" charset="-122"/>
                <a:cs typeface="Calibri" pitchFamily="34" charset="-120"/>
              </a:rPr>
              <a:t>Chạy trong bản mô phỏng</a:t>
            </a:r>
            <a:endParaRPr lang="en-US" sz="1300" dirty="0"/>
          </a:p>
        </p:txBody>
      </p:sp>
      <p:sp>
        <p:nvSpPr>
          <p:cNvPr id="8" name="Shape 6"/>
          <p:cNvSpPr/>
          <p:nvPr/>
        </p:nvSpPr>
        <p:spPr>
          <a:xfrm>
            <a:off x="4343400" y="1783080"/>
            <a:ext cx="3429000" cy="0"/>
          </a:xfrm>
          <a:prstGeom prst="line">
            <a:avLst/>
          </a:prstGeom>
          <a:noFill/>
          <a:ln w="12700">
            <a:solidFill>
              <a:srgbClr val="2A2522"/>
            </a:solidFill>
            <a:prstDash val="solid"/>
          </a:ln>
        </p:spPr>
      </p:sp>
      <p:sp>
        <p:nvSpPr>
          <p:cNvPr id="9" name="Text 7"/>
          <p:cNvSpPr txBox="1"/>
          <p:nvPr/>
        </p:nvSpPr>
        <p:spPr>
          <a:xfrm>
            <a:off x="4343400" y="1920240"/>
            <a:ext cx="3383280" cy="274320"/>
          </a:xfrm>
          <a:prstGeom prst="rect">
            <a:avLst/>
          </a:prstGeom>
          <a:noFill/>
          <a:ln/>
        </p:spPr>
        <p:txBody>
          <a:bodyPr wrap="square" lIns="0" tIns="0" rIns="0" bIns="0" rtlCol="0" anchor="t"/>
          <a:lstStyle/>
          <a:p>
            <a:pPr indent="0" marL="0">
              <a:buNone/>
            </a:pPr>
            <a:r>
              <a:rPr lang="en-US" sz="1200" b="1" spc="200" kern="0" dirty="0">
                <a:solidFill>
                  <a:srgbClr val="9E3B2B"/>
                </a:solidFill>
                <a:latin typeface="Calibri" pitchFamily="34" charset="0"/>
                <a:ea typeface="Calibri" pitchFamily="34" charset="-122"/>
                <a:cs typeface="Calibri" pitchFamily="34" charset="-120"/>
              </a:rPr>
              <a:t>ĐỀ XUẤT</a:t>
            </a:r>
            <a:endParaRPr lang="en-US" sz="1200" dirty="0"/>
          </a:p>
        </p:txBody>
      </p:sp>
      <p:sp>
        <p:nvSpPr>
          <p:cNvPr id="10" name="Text 8"/>
          <p:cNvSpPr txBox="1"/>
          <p:nvPr/>
        </p:nvSpPr>
        <p:spPr>
          <a:xfrm>
            <a:off x="4343400" y="2286000"/>
            <a:ext cx="3383280" cy="1097280"/>
          </a:xfrm>
          <a:prstGeom prst="rect">
            <a:avLst/>
          </a:prstGeom>
          <a:noFill/>
          <a:ln/>
        </p:spPr>
        <p:txBody>
          <a:bodyPr wrap="square" lIns="0" tIns="0" rIns="0" bIns="0" rtlCol="0" anchor="t"/>
          <a:lstStyle/>
          <a:p>
            <a:pPr indent="0" marL="0">
              <a:buNone/>
            </a:pPr>
            <a:r>
              <a:rPr lang="en-US" sz="2200" dirty="0">
                <a:solidFill>
                  <a:srgbClr val="2A2522"/>
                </a:solidFill>
                <a:latin typeface="Calibri" pitchFamily="34" charset="0"/>
                <a:ea typeface="Calibri" pitchFamily="34" charset="-122"/>
                <a:cs typeface="Calibri" pitchFamily="34" charset="-120"/>
              </a:rPr>
              <a:t>Bây giờ nên ghim gì?</a:t>
            </a:r>
            <a:endParaRPr lang="en-US" sz="2200" dirty="0"/>
          </a:p>
        </p:txBody>
      </p:sp>
      <p:sp>
        <p:nvSpPr>
          <p:cNvPr id="11" name="Text 9"/>
          <p:cNvSpPr txBox="1"/>
          <p:nvPr/>
        </p:nvSpPr>
        <p:spPr>
          <a:xfrm>
            <a:off x="4343400" y="3520440"/>
            <a:ext cx="3383280" cy="1371600"/>
          </a:xfrm>
          <a:prstGeom prst="rect">
            <a:avLst/>
          </a:prstGeom>
          <a:noFill/>
          <a:ln/>
        </p:spPr>
        <p:txBody>
          <a:bodyPr wrap="square" lIns="0" tIns="0" rIns="0" bIns="0" rtlCol="0" anchor="t"/>
          <a:lstStyle/>
          <a:p>
            <a:pPr indent="0" marL="0">
              <a:buNone/>
            </a:pPr>
            <a:r>
              <a:rPr lang="en-US" sz="1500" dirty="0">
                <a:solidFill>
                  <a:srgbClr val="5A5047"/>
                </a:solidFill>
                <a:latin typeface="Calibri" pitchFamily="34" charset="0"/>
                <a:ea typeface="Calibri" pitchFamily="34" charset="-122"/>
                <a:cs typeface="Calibri" pitchFamily="34" charset="-120"/>
              </a:rPr>
              <a:t>Xếp hạng sản phẩm và thời điểm flash sale, kèm lý do, cỡ mẫu, độ tin cậy. Người vận hành quyết định.</a:t>
            </a:r>
            <a:endParaRPr lang="en-US" sz="1500" dirty="0"/>
          </a:p>
        </p:txBody>
      </p:sp>
      <p:sp>
        <p:nvSpPr>
          <p:cNvPr id="12" name="Text 10"/>
          <p:cNvSpPr txBox="1"/>
          <p:nvPr/>
        </p:nvSpPr>
        <p:spPr>
          <a:xfrm>
            <a:off x="4343400" y="5074920"/>
            <a:ext cx="3383280" cy="548640"/>
          </a:xfrm>
          <a:prstGeom prst="rect">
            <a:avLst/>
          </a:prstGeom>
          <a:noFill/>
          <a:ln/>
        </p:spPr>
        <p:txBody>
          <a:bodyPr wrap="square" lIns="0" tIns="0" rIns="0" bIns="0" rtlCol="0" anchor="t"/>
          <a:lstStyle/>
          <a:p>
            <a:pPr indent="0" marL="0">
              <a:buNone/>
            </a:pPr>
            <a:r>
              <a:rPr lang="en-US" sz="1300" b="1" dirty="0">
                <a:solidFill>
                  <a:srgbClr val="9E3B2B"/>
                </a:solidFill>
                <a:latin typeface="Calibri" pitchFamily="34" charset="0"/>
                <a:ea typeface="Calibri" pitchFamily="34" charset="-122"/>
                <a:cs typeface="Calibri" pitchFamily="34" charset="-120"/>
              </a:rPr>
              <a:t>Trọng tâm của buổi trình bày</a:t>
            </a:r>
            <a:endParaRPr lang="en-US" sz="1300" dirty="0"/>
          </a:p>
        </p:txBody>
      </p:sp>
      <p:sp>
        <p:nvSpPr>
          <p:cNvPr id="13" name="Shape 11"/>
          <p:cNvSpPr/>
          <p:nvPr/>
        </p:nvSpPr>
        <p:spPr>
          <a:xfrm>
            <a:off x="8046720" y="1783080"/>
            <a:ext cx="3429000" cy="0"/>
          </a:xfrm>
          <a:prstGeom prst="line">
            <a:avLst/>
          </a:prstGeom>
          <a:noFill/>
          <a:ln w="12700">
            <a:solidFill>
              <a:srgbClr val="2A2522"/>
            </a:solidFill>
            <a:prstDash val="solid"/>
          </a:ln>
        </p:spPr>
      </p:sp>
      <p:sp>
        <p:nvSpPr>
          <p:cNvPr id="14" name="Text 12"/>
          <p:cNvSpPr txBox="1"/>
          <p:nvPr/>
        </p:nvSpPr>
        <p:spPr>
          <a:xfrm>
            <a:off x="8046720" y="1920240"/>
            <a:ext cx="3383280" cy="274320"/>
          </a:xfrm>
          <a:prstGeom prst="rect">
            <a:avLst/>
          </a:prstGeom>
          <a:noFill/>
          <a:ln/>
        </p:spPr>
        <p:txBody>
          <a:bodyPr wrap="square" lIns="0" tIns="0" rIns="0" bIns="0" rtlCol="0" anchor="t"/>
          <a:lstStyle/>
          <a:p>
            <a:pPr indent="0" marL="0">
              <a:buNone/>
            </a:pPr>
            <a:r>
              <a:rPr lang="en-US" sz="1200" b="1" spc="200" kern="0" dirty="0">
                <a:solidFill>
                  <a:srgbClr val="8A5A00"/>
                </a:solidFill>
                <a:latin typeface="Calibri" pitchFamily="34" charset="0"/>
                <a:ea typeface="Calibri" pitchFamily="34" charset="-122"/>
                <a:cs typeface="Calibri" pitchFamily="34" charset="-120"/>
              </a:rPr>
              <a:t>THÍ NGHIỆM</a:t>
            </a:r>
            <a:endParaRPr lang="en-US" sz="1200" dirty="0"/>
          </a:p>
        </p:txBody>
      </p:sp>
      <p:sp>
        <p:nvSpPr>
          <p:cNvPr id="15" name="Text 13"/>
          <p:cNvSpPr txBox="1"/>
          <p:nvPr/>
        </p:nvSpPr>
        <p:spPr>
          <a:xfrm>
            <a:off x="8046720" y="2286000"/>
            <a:ext cx="3383280" cy="1097280"/>
          </a:xfrm>
          <a:prstGeom prst="rect">
            <a:avLst/>
          </a:prstGeom>
          <a:noFill/>
          <a:ln/>
        </p:spPr>
        <p:txBody>
          <a:bodyPr wrap="square" lIns="0" tIns="0" rIns="0" bIns="0" rtlCol="0" anchor="t"/>
          <a:lstStyle/>
          <a:p>
            <a:pPr indent="0" marL="0">
              <a:buNone/>
            </a:pPr>
            <a:r>
              <a:rPr lang="en-US" sz="2200" dirty="0">
                <a:solidFill>
                  <a:srgbClr val="2A2522"/>
                </a:solidFill>
                <a:latin typeface="Calibri" pitchFamily="34" charset="0"/>
                <a:ea typeface="Calibri" pitchFamily="34" charset="-122"/>
                <a:cs typeface="Calibri" pitchFamily="34" charset="-120"/>
              </a:rPr>
              <a:t>Ghim theo hệ thống có làm tăng thêm giỏ không?</a:t>
            </a:r>
            <a:endParaRPr lang="en-US" sz="2200" dirty="0"/>
          </a:p>
        </p:txBody>
      </p:sp>
      <p:sp>
        <p:nvSpPr>
          <p:cNvPr id="16" name="Text 14"/>
          <p:cNvSpPr txBox="1"/>
          <p:nvPr/>
        </p:nvSpPr>
        <p:spPr>
          <a:xfrm>
            <a:off x="8046720" y="3520440"/>
            <a:ext cx="3383280" cy="1371600"/>
          </a:xfrm>
          <a:prstGeom prst="rect">
            <a:avLst/>
          </a:prstGeom>
          <a:noFill/>
          <a:ln/>
        </p:spPr>
        <p:txBody>
          <a:bodyPr wrap="square" lIns="0" tIns="0" rIns="0" bIns="0" rtlCol="0" anchor="t"/>
          <a:lstStyle/>
          <a:p>
            <a:pPr indent="0" marL="0">
              <a:buNone/>
            </a:pPr>
            <a:r>
              <a:rPr lang="en-US" sz="1500" dirty="0">
                <a:solidFill>
                  <a:srgbClr val="5A5047"/>
                </a:solidFill>
                <a:latin typeface="Calibri" pitchFamily="34" charset="0"/>
                <a:ea typeface="Calibri" pitchFamily="34" charset="-122"/>
                <a:cs typeface="Calibri" pitchFamily="34" charset="-120"/>
              </a:rPr>
              <a:t>Ghim luân phiên theo khối thời gian bốc thăm trước giờ phát (switchback).</a:t>
            </a:r>
            <a:endParaRPr lang="en-US" sz="1500" dirty="0"/>
          </a:p>
        </p:txBody>
      </p:sp>
      <p:sp>
        <p:nvSpPr>
          <p:cNvPr id="17" name="Text 15"/>
          <p:cNvSpPr txBox="1"/>
          <p:nvPr/>
        </p:nvSpPr>
        <p:spPr>
          <a:xfrm>
            <a:off x="8046720" y="5074920"/>
            <a:ext cx="3383280" cy="548640"/>
          </a:xfrm>
          <a:prstGeom prst="rect">
            <a:avLst/>
          </a:prstGeom>
          <a:noFill/>
          <a:ln/>
        </p:spPr>
        <p:txBody>
          <a:bodyPr wrap="square" lIns="0" tIns="0" rIns="0" bIns="0" rtlCol="0" anchor="t"/>
          <a:lstStyle/>
          <a:p>
            <a:pPr indent="0" marL="0">
              <a:buNone/>
            </a:pPr>
            <a:r>
              <a:rPr lang="en-US" sz="1300" b="1" dirty="0">
                <a:solidFill>
                  <a:srgbClr val="8A5A00"/>
                </a:solidFill>
                <a:latin typeface="Calibri" pitchFamily="34" charset="0"/>
                <a:ea typeface="Calibri" pitchFamily="34" charset="-122"/>
                <a:cs typeface="Calibri" pitchFamily="34" charset="-120"/>
              </a:rPr>
              <a:t>Đang khóa: cần phiên từ 90 phút và đủ người xem</a:t>
            </a:r>
            <a:endParaRPr lang="en-US" sz="1300" dirty="0"/>
          </a:p>
        </p:txBody>
      </p:sp>
      <p:sp>
        <p:nvSpPr>
          <p:cNvPr id="18" name="Text 16"/>
          <p:cNvSpPr txBox="1"/>
          <p:nvPr/>
        </p:nvSpPr>
        <p:spPr>
          <a:xfrm>
            <a:off x="640080" y="5760720"/>
            <a:ext cx="10881360" cy="365760"/>
          </a:xfrm>
          <a:prstGeom prst="rect">
            <a:avLst/>
          </a:prstGeom>
          <a:noFill/>
          <a:ln/>
        </p:spPr>
        <p:txBody>
          <a:bodyPr wrap="square" lIns="0" tIns="0" rIns="0" bIns="0" rtlCol="0" anchor="t"/>
          <a:lstStyle/>
          <a:p>
            <a:pPr indent="0" marL="0">
              <a:buNone/>
            </a:pPr>
            <a:r>
              <a:rPr lang="en-US" sz="1600" dirty="0">
                <a:solidFill>
                  <a:srgbClr val="2A2522"/>
                </a:solidFill>
                <a:latin typeface="Calibri" pitchFamily="34" charset="0"/>
                <a:ea typeface="Calibri" pitchFamily="34" charset="-122"/>
                <a:cs typeface="Calibri" pitchFamily="34" charset="-120"/>
              </a:rPr>
              <a:t>Ghim và bỏ ghim luôn tự do: không lịch, không giới hạn, không hộp xác nhận.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Một câu trả lời lớn, kèm lý do để kiểm chứng</a:t>
            </a:r>
            <a:endParaRPr lang="en-US" sz="3400" dirty="0"/>
          </a:p>
        </p:txBody>
      </p:sp>
      <p:sp>
        <p:nvSpPr>
          <p:cNvPr id="3" name="Shape 1"/>
          <p:cNvSpPr/>
          <p:nvPr/>
        </p:nvSpPr>
        <p:spPr>
          <a:xfrm>
            <a:off x="4672584" y="1655064"/>
            <a:ext cx="6931152" cy="3930777"/>
          </a:xfrm>
          <a:prstGeom prst="rect">
            <a:avLst/>
          </a:prstGeom>
          <a:solidFill>
            <a:srgbClr val="FFFFFF"/>
          </a:solidFill>
          <a:ln w="12700">
            <a:solidFill>
              <a:srgbClr val="D8D0C4"/>
            </a:solidFill>
            <a:prstDash val="solid"/>
          </a:ln>
          <a:effectLst>
            <a:outerShdw sx="100000" sy="100000" kx="0" ky="0" algn="bl" rotWithShape="0" blurRad="101600" dist="25400" dir="5400000">
              <a:srgbClr val="2A2522">
                <a:alpha val="12000"/>
              </a:srgbClr>
            </a:outerShdw>
          </a:effectLst>
        </p:spPr>
      </p:sp>
      <p:pic>
        <p:nvPicPr>
          <p:cNvPr id="4" name="Image 0" descr="Màn Live Desk: gợi ý Nên ghim tiếp Áo hoodie zip, 7 bình luận hỏi giá, 8 lượt thêm giỏ, còn 24">    </p:cNvPr>
          <p:cNvPicPr>
            <a:picLocks noChangeAspect="1"/>
          </p:cNvPicPr>
          <p:nvPr/>
        </p:nvPicPr>
        <p:blipFill>
          <a:blip r:embed="rId1"/>
          <a:stretch>
            <a:fillRect/>
          </a:stretch>
        </p:blipFill>
        <p:spPr>
          <a:xfrm>
            <a:off x="4709160" y="1691640"/>
            <a:ext cx="6858000" cy="3857625"/>
          </a:xfrm>
          <a:prstGeom prst="rect">
            <a:avLst/>
          </a:prstGeom>
        </p:spPr>
      </p:pic>
      <p:sp>
        <p:nvSpPr>
          <p:cNvPr id="5" name="Text 2"/>
          <p:cNvSpPr txBox="1"/>
          <p:nvPr/>
        </p:nvSpPr>
        <p:spPr>
          <a:xfrm>
            <a:off x="640080" y="1828800"/>
            <a:ext cx="3749040" cy="237744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rgbClr val="2A2522"/>
                </a:solidFill>
                <a:latin typeface="Calibri" pitchFamily="34" charset="0"/>
                <a:ea typeface="Calibri" pitchFamily="34" charset="-122"/>
                <a:cs typeface="Calibri" pitchFamily="34" charset="-120"/>
              </a:rPr>
              <a:t>7 người hỏi giá trong 2 phút gần nhất</a:t>
            </a:r>
            <a:endParaRPr lang="en-US" sz="1700" dirty="0"/>
          </a:p>
          <a:p>
            <a:pPr marL="203200" indent="-203200">
              <a:spcAft>
                <a:spcPts val="900"/>
              </a:spcAft>
              <a:buSzPct val="100000"/>
              <a:buChar char="•"/>
            </a:pPr>
            <a:r>
              <a:rPr lang="en-US" sz="1700" dirty="0">
                <a:solidFill>
                  <a:srgbClr val="2A2522"/>
                </a:solidFill>
                <a:latin typeface="Calibri" pitchFamily="34" charset="0"/>
                <a:ea typeface="Calibri" pitchFamily="34" charset="-122"/>
                <a:cs typeface="Calibri" pitchFamily="34" charset="-120"/>
              </a:rPr>
              <a:t>8 lượt thêm giỏ, trước đó là 3</a:t>
            </a:r>
            <a:endParaRPr lang="en-US" sz="1700" dirty="0"/>
          </a:p>
          <a:p>
            <a:pPr marL="203200" indent="-203200">
              <a:spcAft>
                <a:spcPts val="900"/>
              </a:spcAft>
              <a:buSzPct val="100000"/>
              <a:buChar char="•"/>
            </a:pPr>
            <a:r>
              <a:rPr lang="en-US" sz="1700" dirty="0">
                <a:solidFill>
                  <a:srgbClr val="2A2522"/>
                </a:solidFill>
                <a:latin typeface="Calibri" pitchFamily="34" charset="0"/>
                <a:ea typeface="Calibri" pitchFamily="34" charset="-122"/>
                <a:cs typeface="Calibri" pitchFamily="34" charset="-120"/>
              </a:rPr>
              <a:t>Còn 24 trong kho</a:t>
            </a:r>
            <a:endParaRPr lang="en-US" sz="1700" dirty="0"/>
          </a:p>
          <a:p>
            <a:pPr marL="203200" indent="-203200">
              <a:spcAft>
                <a:spcPts val="900"/>
              </a:spcAft>
              <a:buSzPct val="100000"/>
              <a:buChar char="•"/>
            </a:pPr>
            <a:r>
              <a:rPr lang="en-US" sz="1700" dirty="0">
                <a:solidFill>
                  <a:srgbClr val="2A2522"/>
                </a:solidFill>
                <a:latin typeface="Calibri" pitchFamily="34" charset="0"/>
                <a:ea typeface="Calibri" pitchFamily="34" charset="-122"/>
                <a:cs typeface="Calibri" pitchFamily="34" charset="-120"/>
              </a:rPr>
              <a:t>Độ tin cậy trung bình, dựa trên 12 sự kiện</a:t>
            </a:r>
            <a:endParaRPr lang="en-US" sz="1700" dirty="0"/>
          </a:p>
        </p:txBody>
      </p:sp>
      <p:sp>
        <p:nvSpPr>
          <p:cNvPr id="6" name="Text 3"/>
          <p:cNvSpPr txBox="1"/>
          <p:nvPr/>
        </p:nvSpPr>
        <p:spPr>
          <a:xfrm>
            <a:off x="640080" y="4480560"/>
            <a:ext cx="3749040" cy="1188720"/>
          </a:xfrm>
          <a:prstGeom prst="rect">
            <a:avLst/>
          </a:prstGeom>
          <a:noFill/>
          <a:ln/>
        </p:spPr>
        <p:txBody>
          <a:bodyPr wrap="square" lIns="0" tIns="0" rIns="0" bIns="0" rtlCol="0" anchor="t"/>
          <a:lstStyle/>
          <a:p>
            <a:pPr indent="0" marL="0">
              <a:buNone/>
            </a:pPr>
            <a:r>
              <a:rPr lang="en-US" sz="1500" dirty="0">
                <a:solidFill>
                  <a:srgbClr val="5A5047"/>
                </a:solidFill>
                <a:latin typeface="Calibri" pitchFamily="34" charset="0"/>
                <a:ea typeface="Calibri" pitchFamily="34" charset="-122"/>
                <a:cs typeface="Calibri" pitchFamily="34" charset="-120"/>
              </a:rPr>
              <a:t>Trợ lý nói "tín hiệu cho thấy", không nói "sẽ tăng doanh số". Mức tin cậy chỉ tính từ cỡ mẫu.</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Ghim, bỏ ghim tự do; mọi thao tác được ghi lại trung thực</a:t>
            </a:r>
            <a:endParaRPr lang="en-US" sz="3400" dirty="0"/>
          </a:p>
        </p:txBody>
      </p:sp>
      <p:sp>
        <p:nvSpPr>
          <p:cNvPr id="3" name="Shape 1"/>
          <p:cNvSpPr/>
          <p:nvPr/>
        </p:nvSpPr>
        <p:spPr>
          <a:xfrm>
            <a:off x="4672584" y="1655064"/>
            <a:ext cx="6931152" cy="3930777"/>
          </a:xfrm>
          <a:prstGeom prst="rect">
            <a:avLst/>
          </a:prstGeom>
          <a:solidFill>
            <a:srgbClr val="FFFFFF"/>
          </a:solidFill>
          <a:ln w="12700">
            <a:solidFill>
              <a:srgbClr val="D8D0C4"/>
            </a:solidFill>
            <a:prstDash val="solid"/>
          </a:ln>
          <a:effectLst>
            <a:outerShdw sx="100000" sy="100000" kx="0" ky="0" algn="bl" rotWithShape="0" blurRad="101600" dist="25400" dir="5400000">
              <a:srgbClr val="2A2522">
                <a:alpha val="12000"/>
              </a:srgbClr>
            </a:outerShdw>
          </a:effectLst>
        </p:spPr>
      </p:sp>
      <p:pic>
        <p:nvPicPr>
          <p:cNvPr id="4" name="Image 0" descr="Live Desk sau hai lần ghim, biểu đồ có hai vạch đánh dấu và vùng không có dữ liệu vẽ bằng sọc chéo">    </p:cNvPr>
          <p:cNvPicPr>
            <a:picLocks noChangeAspect="1"/>
          </p:cNvPicPr>
          <p:nvPr/>
        </p:nvPicPr>
        <p:blipFill>
          <a:blip r:embed="rId1"/>
          <a:stretch>
            <a:fillRect/>
          </a:stretch>
        </p:blipFill>
        <p:spPr>
          <a:xfrm>
            <a:off x="4709160" y="1691640"/>
            <a:ext cx="6858000" cy="3857625"/>
          </a:xfrm>
          <a:prstGeom prst="rect">
            <a:avLst/>
          </a:prstGeom>
        </p:spPr>
      </p:pic>
      <p:sp>
        <p:nvSpPr>
          <p:cNvPr id="5" name="Text 2"/>
          <p:cNvSpPr txBox="1"/>
          <p:nvPr/>
        </p:nvSpPr>
        <p:spPr>
          <a:xfrm>
            <a:off x="640080" y="1828800"/>
            <a:ext cx="3749040" cy="34747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Sản phẩm đang ghim là một tấm thẻ dán băng dính, luôn ở đầu danh sách</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Biểu đồ đánh dấu lúc bạn ghim: cho biết khi nào, không chứng minh vì sao</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Khoảng không có dữ liệu vẽ bằng sọc chéo, không bao giờ là số 0</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Sáu việc của chủ đề, trên một màn hình</a:t>
            </a:r>
            <a:endParaRPr lang="en-US" sz="3400" dirty="0"/>
          </a:p>
        </p:txBody>
      </p:sp>
      <p:sp>
        <p:nvSpPr>
          <p:cNvPr id="3" name="Shape 1"/>
          <p:cNvSpPr/>
          <p:nvPr/>
        </p:nvSpPr>
        <p:spPr>
          <a:xfrm>
            <a:off x="603504" y="1563624"/>
            <a:ext cx="7296912" cy="4136517"/>
          </a:xfrm>
          <a:prstGeom prst="rect">
            <a:avLst/>
          </a:prstGeom>
          <a:solidFill>
            <a:srgbClr val="FFFFFF"/>
          </a:solidFill>
          <a:ln w="12700">
            <a:solidFill>
              <a:srgbClr val="D8D0C4"/>
            </a:solidFill>
            <a:prstDash val="solid"/>
          </a:ln>
          <a:effectLst>
            <a:outerShdw sx="100000" sy="100000" kx="0" ky="0" algn="bl" rotWithShape="0" blurRad="101600" dist="25400" dir="5400000">
              <a:srgbClr val="2A2522">
                <a:alpha val="12000"/>
              </a:srgbClr>
            </a:outerShdw>
          </a:effectLst>
        </p:spPr>
      </p:sp>
      <p:pic>
        <p:nvPicPr>
          <p:cNvPr id="4" name="Image 0" descr="Màn Hành trình dữ liệu: sáu huy hiệu đánh số trên màn Live Desk và bảng sáu bước">    </p:cNvPr>
          <p:cNvPicPr>
            <a:picLocks noChangeAspect="1"/>
          </p:cNvPicPr>
          <p:nvPr/>
        </p:nvPicPr>
        <p:blipFill>
          <a:blip r:embed="rId1"/>
          <a:stretch>
            <a:fillRect/>
          </a:stretch>
        </p:blipFill>
        <p:spPr>
          <a:xfrm>
            <a:off x="640080" y="1600200"/>
            <a:ext cx="7223760" cy="4063365"/>
          </a:xfrm>
          <a:prstGeom prst="rect">
            <a:avLst/>
          </a:prstGeom>
        </p:spPr>
      </p:pic>
      <p:sp>
        <p:nvSpPr>
          <p:cNvPr id="5" name="Text 2"/>
          <p:cNvSpPr txBox="1"/>
          <p:nvPr/>
        </p:nvSpPr>
        <p:spPr>
          <a:xfrm>
            <a:off x="8229600" y="1645920"/>
            <a:ext cx="365760" cy="457200"/>
          </a:xfrm>
          <a:prstGeom prst="rect">
            <a:avLst/>
          </a:prstGeom>
          <a:noFill/>
          <a:ln/>
        </p:spPr>
        <p:txBody>
          <a:bodyPr wrap="square" lIns="0" tIns="0" rIns="0" bIns="0" rtlCol="0" anchor="t"/>
          <a:lstStyle/>
          <a:p>
            <a:pPr indent="0" marL="0">
              <a:buNone/>
            </a:pPr>
            <a:r>
              <a:rPr lang="en-US" sz="2400" b="1" dirty="0">
                <a:solidFill>
                  <a:srgbClr val="9E3B2B"/>
                </a:solidFill>
                <a:latin typeface="Calibri" pitchFamily="34" charset="0"/>
                <a:ea typeface="Calibri" pitchFamily="34" charset="-122"/>
                <a:cs typeface="Calibri" pitchFamily="34" charset="-120"/>
              </a:rPr>
              <a:t>1</a:t>
            </a:r>
            <a:endParaRPr lang="en-US" sz="2400" dirty="0"/>
          </a:p>
        </p:txBody>
      </p:sp>
      <p:sp>
        <p:nvSpPr>
          <p:cNvPr id="6" name="Text 3"/>
          <p:cNvSpPr txBox="1"/>
          <p:nvPr/>
        </p:nvSpPr>
        <p:spPr>
          <a:xfrm>
            <a:off x="8686800" y="1618488"/>
            <a:ext cx="2926080" cy="64008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Thu thập</a:t>
            </a:r>
            <a:endParaRPr lang="en-US" sz="1600" dirty="0"/>
          </a:p>
          <a:p>
            <a:pPr indent="0" marL="0">
              <a:buNone/>
            </a:pPr>
            <a:r>
              <a:rPr lang="en-US" sz="1300" dirty="0">
                <a:solidFill>
                  <a:srgbClr val="5A5047"/>
                </a:solidFill>
                <a:latin typeface="Calibri" pitchFamily="34" charset="0"/>
                <a:ea typeface="Calibri" pitchFamily="34" charset="-122"/>
                <a:cs typeface="Calibri" pitchFamily="34" charset="-120"/>
              </a:rPr>
              <a:t>bình luận, người xem, thêm giỏ</a:t>
            </a:r>
            <a:endParaRPr lang="en-US" sz="1600" dirty="0"/>
          </a:p>
        </p:txBody>
      </p:sp>
      <p:sp>
        <p:nvSpPr>
          <p:cNvPr id="7" name="Text 4"/>
          <p:cNvSpPr txBox="1"/>
          <p:nvPr/>
        </p:nvSpPr>
        <p:spPr>
          <a:xfrm>
            <a:off x="8229600" y="2350008"/>
            <a:ext cx="365760" cy="457200"/>
          </a:xfrm>
          <a:prstGeom prst="rect">
            <a:avLst/>
          </a:prstGeom>
          <a:noFill/>
          <a:ln/>
        </p:spPr>
        <p:txBody>
          <a:bodyPr wrap="square" lIns="0" tIns="0" rIns="0" bIns="0" rtlCol="0" anchor="t"/>
          <a:lstStyle/>
          <a:p>
            <a:pPr indent="0" marL="0">
              <a:buNone/>
            </a:pPr>
            <a:r>
              <a:rPr lang="en-US" sz="2400" b="1" dirty="0">
                <a:solidFill>
                  <a:srgbClr val="9E3B2B"/>
                </a:solidFill>
                <a:latin typeface="Calibri" pitchFamily="34" charset="0"/>
                <a:ea typeface="Calibri" pitchFamily="34" charset="-122"/>
                <a:cs typeface="Calibri" pitchFamily="34" charset="-120"/>
              </a:rPr>
              <a:t>2</a:t>
            </a:r>
            <a:endParaRPr lang="en-US" sz="2400" dirty="0"/>
          </a:p>
        </p:txBody>
      </p:sp>
      <p:sp>
        <p:nvSpPr>
          <p:cNvPr id="8" name="Text 5"/>
          <p:cNvSpPr txBox="1"/>
          <p:nvPr/>
        </p:nvSpPr>
        <p:spPr>
          <a:xfrm>
            <a:off x="8686800" y="2322576"/>
            <a:ext cx="2926080" cy="64008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Làm sạch</a:t>
            </a:r>
            <a:endParaRPr lang="en-US" sz="1600" dirty="0"/>
          </a:p>
          <a:p>
            <a:pPr indent="0" marL="0">
              <a:buNone/>
            </a:pPr>
            <a:r>
              <a:rPr lang="en-US" sz="1300" dirty="0">
                <a:solidFill>
                  <a:srgbClr val="5A5047"/>
                </a:solidFill>
                <a:latin typeface="Calibri" pitchFamily="34" charset="0"/>
                <a:ea typeface="Calibri" pitchFamily="34" charset="-122"/>
                <a:cs typeface="Calibri" pitchFamily="34" charset="-120"/>
              </a:rPr>
              <a:t>che số điện thoại trước khi hiển thị và lưu</a:t>
            </a:r>
            <a:endParaRPr lang="en-US" sz="1600" dirty="0"/>
          </a:p>
        </p:txBody>
      </p:sp>
      <p:sp>
        <p:nvSpPr>
          <p:cNvPr id="9" name="Text 6"/>
          <p:cNvSpPr txBox="1"/>
          <p:nvPr/>
        </p:nvSpPr>
        <p:spPr>
          <a:xfrm>
            <a:off x="8229600" y="3054096"/>
            <a:ext cx="365760" cy="457200"/>
          </a:xfrm>
          <a:prstGeom prst="rect">
            <a:avLst/>
          </a:prstGeom>
          <a:noFill/>
          <a:ln/>
        </p:spPr>
        <p:txBody>
          <a:bodyPr wrap="square" lIns="0" tIns="0" rIns="0" bIns="0" rtlCol="0" anchor="t"/>
          <a:lstStyle/>
          <a:p>
            <a:pPr indent="0" marL="0">
              <a:buNone/>
            </a:pPr>
            <a:r>
              <a:rPr lang="en-US" sz="2400" b="1" dirty="0">
                <a:solidFill>
                  <a:srgbClr val="9E3B2B"/>
                </a:solidFill>
                <a:latin typeface="Calibri" pitchFamily="34" charset="0"/>
                <a:ea typeface="Calibri" pitchFamily="34" charset="-122"/>
                <a:cs typeface="Calibri" pitchFamily="34" charset="-120"/>
              </a:rPr>
              <a:t>3</a:t>
            </a:r>
            <a:endParaRPr lang="en-US" sz="2400" dirty="0"/>
          </a:p>
        </p:txBody>
      </p:sp>
      <p:sp>
        <p:nvSpPr>
          <p:cNvPr id="10" name="Text 7"/>
          <p:cNvSpPr txBox="1"/>
          <p:nvPr/>
        </p:nvSpPr>
        <p:spPr>
          <a:xfrm>
            <a:off x="8686800" y="3026664"/>
            <a:ext cx="2926080" cy="64008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Phân tích</a:t>
            </a:r>
            <a:endParaRPr lang="en-US" sz="1600" dirty="0"/>
          </a:p>
          <a:p>
            <a:pPr indent="0" marL="0">
              <a:buNone/>
            </a:pPr>
            <a:r>
              <a:rPr lang="en-US" sz="1300" dirty="0">
                <a:solidFill>
                  <a:srgbClr val="5A5047"/>
                </a:solidFill>
                <a:latin typeface="Calibri" pitchFamily="34" charset="0"/>
                <a:ea typeface="Calibri" pitchFamily="34" charset="-122"/>
                <a:cs typeface="Calibri" pitchFamily="34" charset="-120"/>
              </a:rPr>
              <a:t>đếm ý định trong 2 phút</a:t>
            </a:r>
            <a:endParaRPr lang="en-US" sz="1600" dirty="0"/>
          </a:p>
        </p:txBody>
      </p:sp>
      <p:sp>
        <p:nvSpPr>
          <p:cNvPr id="11" name="Text 8"/>
          <p:cNvSpPr txBox="1"/>
          <p:nvPr/>
        </p:nvSpPr>
        <p:spPr>
          <a:xfrm>
            <a:off x="8229600" y="3758184"/>
            <a:ext cx="365760" cy="457200"/>
          </a:xfrm>
          <a:prstGeom prst="rect">
            <a:avLst/>
          </a:prstGeom>
          <a:noFill/>
          <a:ln/>
        </p:spPr>
        <p:txBody>
          <a:bodyPr wrap="square" lIns="0" tIns="0" rIns="0" bIns="0" rtlCol="0" anchor="t"/>
          <a:lstStyle/>
          <a:p>
            <a:pPr indent="0" marL="0">
              <a:buNone/>
            </a:pPr>
            <a:r>
              <a:rPr lang="en-US" sz="2400" b="1" dirty="0">
                <a:solidFill>
                  <a:srgbClr val="9E3B2B"/>
                </a:solidFill>
                <a:latin typeface="Calibri" pitchFamily="34" charset="0"/>
                <a:ea typeface="Calibri" pitchFamily="34" charset="-122"/>
                <a:cs typeface="Calibri" pitchFamily="34" charset="-120"/>
              </a:rPr>
              <a:t>4</a:t>
            </a:r>
            <a:endParaRPr lang="en-US" sz="2400" dirty="0"/>
          </a:p>
        </p:txBody>
      </p:sp>
      <p:sp>
        <p:nvSpPr>
          <p:cNvPr id="12" name="Text 9"/>
          <p:cNvSpPr txBox="1"/>
          <p:nvPr/>
        </p:nvSpPr>
        <p:spPr>
          <a:xfrm>
            <a:off x="8686800" y="3730752"/>
            <a:ext cx="2926080" cy="64008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Khai thác insight</a:t>
            </a:r>
            <a:endParaRPr lang="en-US" sz="1600" dirty="0"/>
          </a:p>
          <a:p>
            <a:pPr indent="0" marL="0">
              <a:buNone/>
            </a:pPr>
            <a:r>
              <a:rPr lang="en-US" sz="1300" dirty="0">
                <a:solidFill>
                  <a:srgbClr val="5A5047"/>
                </a:solidFill>
                <a:latin typeface="Calibri" pitchFamily="34" charset="0"/>
                <a:ea typeface="Calibri" pitchFamily="34" charset="-122"/>
                <a:cs typeface="Calibri" pitchFamily="34" charset="-120"/>
              </a:rPr>
              <a:t>con số và cỡ mẫu làm lý do</a:t>
            </a:r>
            <a:endParaRPr lang="en-US" sz="1600" dirty="0"/>
          </a:p>
        </p:txBody>
      </p:sp>
      <p:sp>
        <p:nvSpPr>
          <p:cNvPr id="13" name="Text 10"/>
          <p:cNvSpPr txBox="1"/>
          <p:nvPr/>
        </p:nvSpPr>
        <p:spPr>
          <a:xfrm>
            <a:off x="8229600" y="4462272"/>
            <a:ext cx="365760" cy="457200"/>
          </a:xfrm>
          <a:prstGeom prst="rect">
            <a:avLst/>
          </a:prstGeom>
          <a:noFill/>
          <a:ln/>
        </p:spPr>
        <p:txBody>
          <a:bodyPr wrap="square" lIns="0" tIns="0" rIns="0" bIns="0" rtlCol="0" anchor="t"/>
          <a:lstStyle/>
          <a:p>
            <a:pPr indent="0" marL="0">
              <a:buNone/>
            </a:pPr>
            <a:r>
              <a:rPr lang="en-US" sz="2400" b="1" dirty="0">
                <a:solidFill>
                  <a:srgbClr val="9E3B2B"/>
                </a:solidFill>
                <a:latin typeface="Calibri" pitchFamily="34" charset="0"/>
                <a:ea typeface="Calibri" pitchFamily="34" charset="-122"/>
                <a:cs typeface="Calibri" pitchFamily="34" charset="-120"/>
              </a:rPr>
              <a:t>5</a:t>
            </a:r>
            <a:endParaRPr lang="en-US" sz="2400" dirty="0"/>
          </a:p>
        </p:txBody>
      </p:sp>
      <p:sp>
        <p:nvSpPr>
          <p:cNvPr id="14" name="Text 11"/>
          <p:cNvSpPr txBox="1"/>
          <p:nvPr/>
        </p:nvSpPr>
        <p:spPr>
          <a:xfrm>
            <a:off x="8686800" y="4434840"/>
            <a:ext cx="2926080" cy="64008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Đề xuất giải pháp</a:t>
            </a:r>
            <a:endParaRPr lang="en-US" sz="1600" dirty="0"/>
          </a:p>
          <a:p>
            <a:pPr indent="0" marL="0">
              <a:buNone/>
            </a:pPr>
            <a:r>
              <a:rPr lang="en-US" sz="1300" dirty="0">
                <a:solidFill>
                  <a:srgbClr val="5A5047"/>
                </a:solidFill>
                <a:latin typeface="Calibri" pitchFamily="34" charset="0"/>
                <a:ea typeface="Calibri" pitchFamily="34" charset="-122"/>
                <a:cs typeface="Calibri" pitchFamily="34" charset="-120"/>
              </a:rPr>
              <a:t>nên ghim gì</a:t>
            </a:r>
            <a:endParaRPr lang="en-US" sz="1600" dirty="0"/>
          </a:p>
        </p:txBody>
      </p:sp>
      <p:sp>
        <p:nvSpPr>
          <p:cNvPr id="15" name="Text 12"/>
          <p:cNvSpPr txBox="1"/>
          <p:nvPr/>
        </p:nvSpPr>
        <p:spPr>
          <a:xfrm>
            <a:off x="8229600" y="5166360"/>
            <a:ext cx="365760" cy="457200"/>
          </a:xfrm>
          <a:prstGeom prst="rect">
            <a:avLst/>
          </a:prstGeom>
          <a:noFill/>
          <a:ln/>
        </p:spPr>
        <p:txBody>
          <a:bodyPr wrap="square" lIns="0" tIns="0" rIns="0" bIns="0" rtlCol="0" anchor="t"/>
          <a:lstStyle/>
          <a:p>
            <a:pPr indent="0" marL="0">
              <a:buNone/>
            </a:pPr>
            <a:r>
              <a:rPr lang="en-US" sz="2400" b="1" dirty="0">
                <a:solidFill>
                  <a:srgbClr val="9E3B2B"/>
                </a:solidFill>
                <a:latin typeface="Calibri" pitchFamily="34" charset="0"/>
                <a:ea typeface="Calibri" pitchFamily="34" charset="-122"/>
                <a:cs typeface="Calibri" pitchFamily="34" charset="-120"/>
              </a:rPr>
              <a:t>6</a:t>
            </a:r>
            <a:endParaRPr lang="en-US" sz="2400" dirty="0"/>
          </a:p>
        </p:txBody>
      </p:sp>
      <p:sp>
        <p:nvSpPr>
          <p:cNvPr id="16" name="Text 13"/>
          <p:cNvSpPr txBox="1"/>
          <p:nvPr/>
        </p:nvSpPr>
        <p:spPr>
          <a:xfrm>
            <a:off x="8686800" y="5138928"/>
            <a:ext cx="2926080" cy="64008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Đánh giá hiệu quả</a:t>
            </a:r>
            <a:endParaRPr lang="en-US" sz="1600" dirty="0"/>
          </a:p>
          <a:p>
            <a:pPr indent="0" marL="0">
              <a:buNone/>
            </a:pPr>
            <a:r>
              <a:rPr lang="en-US" sz="1300" dirty="0">
                <a:solidFill>
                  <a:srgbClr val="5A5047"/>
                </a:solidFill>
                <a:latin typeface="Calibri" pitchFamily="34" charset="0"/>
                <a:ea typeface="Calibri" pitchFamily="34" charset="-122"/>
                <a:cs typeface="Calibri" pitchFamily="34" charset="-120"/>
              </a:rPr>
              <a:t>tổng kết: nhận, bỏ qua, điều chưa biết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Dữ liệu: dùng nguồn chính thức và nói rõ cái gì là mô phỏng</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3566160"/>
                <a:gridCol w="3840480"/>
                <a:gridCol w="3474720"/>
              </a:tblGrid>
              <a:tr h="365760">
                <a:tc>
                  <a:txBody>
                    <a:bodyPr/>
                    <a:lstStyle/>
                    <a:p>
                      <a:pPr indent="0" marL="0">
                        <a:buNone/>
                      </a:pPr>
                      <a:r>
                        <a:rPr lang="en-US" sz="1200" b="1" dirty="0">
                          <a:solidFill>
                            <a:srgbClr val="5A5047"/>
                          </a:solidFill>
                          <a:latin typeface="Calibri" pitchFamily="34" charset="0"/>
                          <a:ea typeface="Calibri" pitchFamily="34" charset="-122"/>
                          <a:cs typeface="Calibri" pitchFamily="34" charset="-120"/>
                        </a:rPr>
                        <a:t>NGUỒN</a:t>
                      </a:r>
                      <a:endParaRPr lang="en-US" sz="1200" dirty="0">
                        <a:latin typeface="Calibri" charset="0"/>
                        <a:ea typeface="Calibri" charset="0"/>
                        <a:cs typeface="Calibri" charset="0"/>
                      </a:endParaRPr>
                    </a:p>
                  </a:txBody>
                  <a:tcPr marL="0" marR="91440" marT="45720" marB="45720">
                    <a:lnL w="0" cap="flat" cmpd="sng" algn="ctr">
                      <a:noFill/>
                    </a:lnL>
                    <a:lnR w="0" cap="flat" cmpd="sng" algn="ctr">
                      <a:noFill/>
                    </a:lnR>
                    <a:lnT w="0" cap="flat" cmpd="sng" algn="ctr">
                      <a:noFill/>
                    </a:lnT>
                    <a:lnB w="12700" cap="flat" cmpd="sng" algn="ctr">
                      <a:solidFill>
                        <a:srgbClr val="2A2522"/>
                      </a:solidFill>
                      <a:prstDash val="solid"/>
                      <a:round/>
                      <a:headEnd type="none" w="med" len="med"/>
                      <a:tailEnd type="none" w="med" len="med"/>
                    </a:lnB>
                    <a:solidFill>
                      <a:srgbClr val="F6F3EE"/>
                    </a:solidFill>
                  </a:tcPr>
                </a:tc>
                <a:tc>
                  <a:txBody>
                    <a:bodyPr/>
                    <a:lstStyle/>
                    <a:p>
                      <a:pPr indent="0" marL="0">
                        <a:buNone/>
                      </a:pPr>
                      <a:r>
                        <a:rPr lang="en-US" sz="1200" b="1" dirty="0">
                          <a:solidFill>
                            <a:srgbClr val="5A5047"/>
                          </a:solidFill>
                          <a:latin typeface="Calibri" pitchFamily="34" charset="0"/>
                          <a:ea typeface="Calibri" pitchFamily="34" charset="-122"/>
                          <a:cs typeface="Calibri" pitchFamily="34" charset="-120"/>
                        </a:rPr>
                        <a:t>HÔM NAY</a:t>
                      </a:r>
                      <a:endParaRPr lang="en-US" sz="1200" dirty="0">
                        <a:latin typeface="Calibri" charset="0"/>
                        <a:ea typeface="Calibri" charset="0"/>
                        <a:cs typeface="Calibri" charset="0"/>
                      </a:endParaRPr>
                    </a:p>
                  </a:txBody>
                  <a:tcPr marL="0" marR="91440" marT="45720" marB="45720">
                    <a:lnL w="0" cap="flat" cmpd="sng" algn="ctr">
                      <a:noFill/>
                    </a:lnL>
                    <a:lnR w="0" cap="flat" cmpd="sng" algn="ctr">
                      <a:noFill/>
                    </a:lnR>
                    <a:lnT w="0" cap="flat" cmpd="sng" algn="ctr">
                      <a:noFill/>
                    </a:lnT>
                    <a:lnB w="12700" cap="flat" cmpd="sng" algn="ctr">
                      <a:solidFill>
                        <a:srgbClr val="2A2522"/>
                      </a:solidFill>
                      <a:prstDash val="solid"/>
                      <a:round/>
                      <a:headEnd type="none" w="med" len="med"/>
                      <a:tailEnd type="none" w="med" len="med"/>
                    </a:lnB>
                    <a:solidFill>
                      <a:srgbClr val="F6F3EE"/>
                    </a:solidFill>
                  </a:tcPr>
                </a:tc>
                <a:tc>
                  <a:txBody>
                    <a:bodyPr/>
                    <a:lstStyle/>
                    <a:p>
                      <a:pPr indent="0" marL="0">
                        <a:buNone/>
                      </a:pPr>
                      <a:r>
                        <a:rPr lang="en-US" sz="1200" b="1" dirty="0">
                          <a:solidFill>
                            <a:srgbClr val="5A5047"/>
                          </a:solidFill>
                          <a:latin typeface="Calibri" pitchFamily="34" charset="0"/>
                          <a:ea typeface="Calibri" pitchFamily="34" charset="-122"/>
                          <a:cs typeface="Calibri" pitchFamily="34" charset="-120"/>
                        </a:rPr>
                        <a:t>ĐIỀU KIỆN</a:t>
                      </a:r>
                      <a:endParaRPr lang="en-US" sz="1200" dirty="0">
                        <a:latin typeface="Calibri" charset="0"/>
                        <a:ea typeface="Calibri" charset="0"/>
                        <a:cs typeface="Calibri" charset="0"/>
                      </a:endParaRPr>
                    </a:p>
                  </a:txBody>
                  <a:tcPr marL="0" marR="91440" marT="45720" marB="45720">
                    <a:lnL w="0" cap="flat" cmpd="sng" algn="ctr">
                      <a:noFill/>
                    </a:lnL>
                    <a:lnR w="0" cap="flat" cmpd="sng" algn="ctr">
                      <a:noFill/>
                    </a:lnR>
                    <a:lnT w="0" cap="flat" cmpd="sng" algn="ctr">
                      <a:noFill/>
                    </a:lnT>
                    <a:lnB w="12700" cap="flat" cmpd="sng" algn="ctr">
                      <a:solidFill>
                        <a:srgbClr val="2A2522"/>
                      </a:solidFill>
                      <a:prstDash val="solid"/>
                      <a:round/>
                      <a:headEnd type="none" w="med" len="med"/>
                      <a:tailEnd type="none" w="med" len="med"/>
                    </a:lnB>
                    <a:solidFill>
                      <a:srgbClr val="F6F3EE"/>
                    </a:solidFill>
                  </a:tcPr>
                </a:tc>
              </a:tr>
              <a:tr h="566928">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Bản demo (mô phỏng có seed)</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Chạy được, gắn nhãn SIMULATED</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Không cần tài khoản</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r h="566928">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YouTube Data API (chính thức)</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Bộ nối đã viết, chờ khóa API</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Khóa API miễn phí</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r h="713232">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Shopee Open Platform</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Bộ nối và kiểm thử đã có, chưa gọi thật</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Cần shop Mall hoặc Preferred, hoặc pháp nhân đối tác</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r h="713232">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TikTok</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Không có API công khai để mở live hay ghim</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Người vận hành làm tay rồi báo lại</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bl>
          </a:graphicData>
        </a:graphic>
      </p:graphicFrame>
      <p:sp>
        <p:nvSpPr>
          <p:cNvPr id="4" name="Text 1"/>
          <p:cNvSpPr txBox="1"/>
          <p:nvPr/>
        </p:nvSpPr>
        <p:spPr>
          <a:xfrm>
            <a:off x="640080" y="4846320"/>
            <a:ext cx="10881360" cy="11887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Bình luận qua bộ lọc thông tin cá nhân tiếng Việt trước khi hiển thị và lưu</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Chỉ dùng API chính thức cho dữ liệu đưa vào hồ sơ; không lấy dữ liệu trái điều khoản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Sáu cặp khái niệm mà hệ thống không bao giờ gộp</a:t>
            </a:r>
            <a:endParaRPr lang="en-US" sz="3400" dirty="0"/>
          </a:p>
        </p:txBody>
      </p:sp>
      <p:sp>
        <p:nvSpPr>
          <p:cNvPr id="3" name="Shape 1"/>
          <p:cNvSpPr/>
          <p:nvPr/>
        </p:nvSpPr>
        <p:spPr>
          <a:xfrm>
            <a:off x="640080" y="1783080"/>
            <a:ext cx="5303520" cy="0"/>
          </a:xfrm>
          <a:prstGeom prst="line">
            <a:avLst/>
          </a:prstGeom>
          <a:noFill/>
          <a:ln w="12700">
            <a:solidFill>
              <a:srgbClr val="2A2522"/>
            </a:solidFill>
            <a:prstDash val="solid"/>
          </a:ln>
        </p:spPr>
      </p:sp>
      <p:sp>
        <p:nvSpPr>
          <p:cNvPr id="4" name="Text 2"/>
          <p:cNvSpPr txBox="1"/>
          <p:nvPr/>
        </p:nvSpPr>
        <p:spPr>
          <a:xfrm>
            <a:off x="640080" y="1965960"/>
            <a:ext cx="2286000" cy="822960"/>
          </a:xfrm>
          <a:prstGeom prst="rect">
            <a:avLst/>
          </a:prstGeom>
          <a:noFill/>
          <a:ln/>
        </p:spPr>
        <p:txBody>
          <a:bodyPr wrap="square" lIns="0" tIns="0" rIns="0" bIns="0" rtlCol="0" anchor="ctr"/>
          <a:lstStyle/>
          <a:p>
            <a:pPr indent="0" marL="0">
              <a:buNone/>
            </a:pPr>
            <a:r>
              <a:rPr lang="en-US" sz="2000" b="1" dirty="0">
                <a:solidFill>
                  <a:srgbClr val="2A2522"/>
                </a:solidFill>
                <a:latin typeface="Calibri" pitchFamily="34" charset="0"/>
                <a:ea typeface="Calibri" pitchFamily="34" charset="-122"/>
                <a:cs typeface="Calibri" pitchFamily="34" charset="-120"/>
              </a:rPr>
              <a:t>Thiếu số liệu</a:t>
            </a:r>
            <a:endParaRPr lang="en-US" sz="2000" dirty="0"/>
          </a:p>
        </p:txBody>
      </p:sp>
      <p:sp>
        <p:nvSpPr>
          <p:cNvPr id="5" name="Text 3"/>
          <p:cNvSpPr txBox="1"/>
          <p:nvPr/>
        </p:nvSpPr>
        <p:spPr>
          <a:xfrm>
            <a:off x="2971800" y="1920240"/>
            <a:ext cx="548640" cy="822960"/>
          </a:xfrm>
          <a:prstGeom prst="rect">
            <a:avLst/>
          </a:prstGeom>
          <a:noFill/>
          <a:ln/>
        </p:spPr>
        <p:txBody>
          <a:bodyPr wrap="square" lIns="0" tIns="0" rIns="0" bIns="0" rtlCol="0" anchor="ctr"/>
          <a:lstStyle/>
          <a:p>
            <a:pPr algn="ctr" indent="0" marL="0">
              <a:buNone/>
            </a:pPr>
            <a:r>
              <a:rPr lang="en-US" sz="3600" dirty="0">
                <a:solidFill>
                  <a:srgbClr val="9E3B2B"/>
                </a:solidFill>
                <a:latin typeface="Calibri" pitchFamily="34" charset="0"/>
                <a:ea typeface="Calibri" pitchFamily="34" charset="-122"/>
                <a:cs typeface="Calibri" pitchFamily="34" charset="-120"/>
              </a:rPr>
              <a:t>≠</a:t>
            </a:r>
            <a:endParaRPr lang="en-US" sz="3600" dirty="0"/>
          </a:p>
        </p:txBody>
      </p:sp>
      <p:sp>
        <p:nvSpPr>
          <p:cNvPr id="6" name="Text 4"/>
          <p:cNvSpPr txBox="1"/>
          <p:nvPr/>
        </p:nvSpPr>
        <p:spPr>
          <a:xfrm>
            <a:off x="3566160" y="1965960"/>
            <a:ext cx="2377440" cy="822960"/>
          </a:xfrm>
          <a:prstGeom prst="rect">
            <a:avLst/>
          </a:prstGeom>
          <a:noFill/>
          <a:ln/>
        </p:spPr>
        <p:txBody>
          <a:bodyPr wrap="square" lIns="0" tIns="0" rIns="0" bIns="0" rtlCol="0" anchor="ctr"/>
          <a:lstStyle/>
          <a:p>
            <a:pPr indent="0" marL="0">
              <a:buNone/>
            </a:pPr>
            <a:r>
              <a:rPr lang="en-US" sz="2000" dirty="0">
                <a:solidFill>
                  <a:srgbClr val="2A2522"/>
                </a:solidFill>
                <a:latin typeface="Calibri" pitchFamily="34" charset="0"/>
                <a:ea typeface="Calibri" pitchFamily="34" charset="-122"/>
                <a:cs typeface="Calibri" pitchFamily="34" charset="-120"/>
              </a:rPr>
              <a:t>bằng 0</a:t>
            </a:r>
            <a:endParaRPr lang="en-US" sz="2000" dirty="0"/>
          </a:p>
        </p:txBody>
      </p:sp>
      <p:sp>
        <p:nvSpPr>
          <p:cNvPr id="7" name="Shape 5"/>
          <p:cNvSpPr/>
          <p:nvPr/>
        </p:nvSpPr>
        <p:spPr>
          <a:xfrm>
            <a:off x="6217920" y="1783080"/>
            <a:ext cx="5303520" cy="0"/>
          </a:xfrm>
          <a:prstGeom prst="line">
            <a:avLst/>
          </a:prstGeom>
          <a:noFill/>
          <a:ln w="12700">
            <a:solidFill>
              <a:srgbClr val="2A2522"/>
            </a:solidFill>
            <a:prstDash val="solid"/>
          </a:ln>
        </p:spPr>
      </p:sp>
      <p:sp>
        <p:nvSpPr>
          <p:cNvPr id="8" name="Text 6"/>
          <p:cNvSpPr txBox="1"/>
          <p:nvPr/>
        </p:nvSpPr>
        <p:spPr>
          <a:xfrm>
            <a:off x="6217920" y="1965960"/>
            <a:ext cx="2286000" cy="822960"/>
          </a:xfrm>
          <a:prstGeom prst="rect">
            <a:avLst/>
          </a:prstGeom>
          <a:noFill/>
          <a:ln/>
        </p:spPr>
        <p:txBody>
          <a:bodyPr wrap="square" lIns="0" tIns="0" rIns="0" bIns="0" rtlCol="0" anchor="ctr"/>
          <a:lstStyle/>
          <a:p>
            <a:pPr indent="0" marL="0">
              <a:buNone/>
            </a:pPr>
            <a:r>
              <a:rPr lang="en-US" sz="2000" b="1" dirty="0">
                <a:solidFill>
                  <a:srgbClr val="2A2522"/>
                </a:solidFill>
                <a:latin typeface="Calibri" pitchFamily="34" charset="0"/>
                <a:ea typeface="Calibri" pitchFamily="34" charset="-122"/>
                <a:cs typeface="Calibri" pitchFamily="34" charset="-120"/>
              </a:rPr>
              <a:t>Kế hoạch</a:t>
            </a:r>
            <a:endParaRPr lang="en-US" sz="2000" dirty="0"/>
          </a:p>
        </p:txBody>
      </p:sp>
      <p:sp>
        <p:nvSpPr>
          <p:cNvPr id="9" name="Text 7"/>
          <p:cNvSpPr txBox="1"/>
          <p:nvPr/>
        </p:nvSpPr>
        <p:spPr>
          <a:xfrm>
            <a:off x="8549640" y="1920240"/>
            <a:ext cx="548640" cy="822960"/>
          </a:xfrm>
          <a:prstGeom prst="rect">
            <a:avLst/>
          </a:prstGeom>
          <a:noFill/>
          <a:ln/>
        </p:spPr>
        <p:txBody>
          <a:bodyPr wrap="square" lIns="0" tIns="0" rIns="0" bIns="0" rtlCol="0" anchor="ctr"/>
          <a:lstStyle/>
          <a:p>
            <a:pPr algn="ctr" indent="0" marL="0">
              <a:buNone/>
            </a:pPr>
            <a:r>
              <a:rPr lang="en-US" sz="3600" dirty="0">
                <a:solidFill>
                  <a:srgbClr val="9E3B2B"/>
                </a:solidFill>
                <a:latin typeface="Calibri" pitchFamily="34" charset="0"/>
                <a:ea typeface="Calibri" pitchFamily="34" charset="-122"/>
                <a:cs typeface="Calibri" pitchFamily="34" charset="-120"/>
              </a:rPr>
              <a:t>≠</a:t>
            </a:r>
            <a:endParaRPr lang="en-US" sz="3600" dirty="0"/>
          </a:p>
        </p:txBody>
      </p:sp>
      <p:sp>
        <p:nvSpPr>
          <p:cNvPr id="10" name="Text 8"/>
          <p:cNvSpPr txBox="1"/>
          <p:nvPr/>
        </p:nvSpPr>
        <p:spPr>
          <a:xfrm>
            <a:off x="9144000" y="1965960"/>
            <a:ext cx="2377440" cy="822960"/>
          </a:xfrm>
          <a:prstGeom prst="rect">
            <a:avLst/>
          </a:prstGeom>
          <a:noFill/>
          <a:ln/>
        </p:spPr>
        <p:txBody>
          <a:bodyPr wrap="square" lIns="0" tIns="0" rIns="0" bIns="0" rtlCol="0" anchor="ctr"/>
          <a:lstStyle/>
          <a:p>
            <a:pPr indent="0" marL="0">
              <a:buNone/>
            </a:pPr>
            <a:r>
              <a:rPr lang="en-US" sz="2000" dirty="0">
                <a:solidFill>
                  <a:srgbClr val="2A2522"/>
                </a:solidFill>
                <a:latin typeface="Calibri" pitchFamily="34" charset="0"/>
                <a:ea typeface="Calibri" pitchFamily="34" charset="-122"/>
                <a:cs typeface="Calibri" pitchFamily="34" charset="-120"/>
              </a:rPr>
              <a:t>thực tế</a:t>
            </a:r>
            <a:endParaRPr lang="en-US" sz="2000" dirty="0"/>
          </a:p>
        </p:txBody>
      </p:sp>
      <p:sp>
        <p:nvSpPr>
          <p:cNvPr id="11" name="Shape 9"/>
          <p:cNvSpPr/>
          <p:nvPr/>
        </p:nvSpPr>
        <p:spPr>
          <a:xfrm>
            <a:off x="640080" y="3154680"/>
            <a:ext cx="5303520" cy="0"/>
          </a:xfrm>
          <a:prstGeom prst="line">
            <a:avLst/>
          </a:prstGeom>
          <a:noFill/>
          <a:ln w="12700">
            <a:solidFill>
              <a:srgbClr val="2A2522"/>
            </a:solidFill>
            <a:prstDash val="solid"/>
          </a:ln>
        </p:spPr>
      </p:sp>
      <p:sp>
        <p:nvSpPr>
          <p:cNvPr id="12" name="Text 10"/>
          <p:cNvSpPr txBox="1"/>
          <p:nvPr/>
        </p:nvSpPr>
        <p:spPr>
          <a:xfrm>
            <a:off x="640080" y="3337560"/>
            <a:ext cx="2286000" cy="822960"/>
          </a:xfrm>
          <a:prstGeom prst="rect">
            <a:avLst/>
          </a:prstGeom>
          <a:noFill/>
          <a:ln/>
        </p:spPr>
        <p:txBody>
          <a:bodyPr wrap="square" lIns="0" tIns="0" rIns="0" bIns="0" rtlCol="0" anchor="ctr"/>
          <a:lstStyle/>
          <a:p>
            <a:pPr indent="0" marL="0">
              <a:buNone/>
            </a:pPr>
            <a:r>
              <a:rPr lang="en-US" sz="2000" b="1" dirty="0">
                <a:solidFill>
                  <a:srgbClr val="2A2522"/>
                </a:solidFill>
                <a:latin typeface="Calibri" pitchFamily="34" charset="0"/>
                <a:ea typeface="Calibri" pitchFamily="34" charset="-122"/>
                <a:cs typeface="Calibri" pitchFamily="34" charset="-120"/>
              </a:rPr>
              <a:t>Khuyến nghị</a:t>
            </a:r>
            <a:endParaRPr lang="en-US" sz="2000" dirty="0"/>
          </a:p>
        </p:txBody>
      </p:sp>
      <p:sp>
        <p:nvSpPr>
          <p:cNvPr id="13" name="Text 11"/>
          <p:cNvSpPr txBox="1"/>
          <p:nvPr/>
        </p:nvSpPr>
        <p:spPr>
          <a:xfrm>
            <a:off x="2971800" y="3291840"/>
            <a:ext cx="548640" cy="822960"/>
          </a:xfrm>
          <a:prstGeom prst="rect">
            <a:avLst/>
          </a:prstGeom>
          <a:noFill/>
          <a:ln/>
        </p:spPr>
        <p:txBody>
          <a:bodyPr wrap="square" lIns="0" tIns="0" rIns="0" bIns="0" rtlCol="0" anchor="ctr"/>
          <a:lstStyle/>
          <a:p>
            <a:pPr algn="ctr" indent="0" marL="0">
              <a:buNone/>
            </a:pPr>
            <a:r>
              <a:rPr lang="en-US" sz="3600" dirty="0">
                <a:solidFill>
                  <a:srgbClr val="9E3B2B"/>
                </a:solidFill>
                <a:latin typeface="Calibri" pitchFamily="34" charset="0"/>
                <a:ea typeface="Calibri" pitchFamily="34" charset="-122"/>
                <a:cs typeface="Calibri" pitchFamily="34" charset="-120"/>
              </a:rPr>
              <a:t>≠</a:t>
            </a:r>
            <a:endParaRPr lang="en-US" sz="3600" dirty="0"/>
          </a:p>
        </p:txBody>
      </p:sp>
      <p:sp>
        <p:nvSpPr>
          <p:cNvPr id="14" name="Text 12"/>
          <p:cNvSpPr txBox="1"/>
          <p:nvPr/>
        </p:nvSpPr>
        <p:spPr>
          <a:xfrm>
            <a:off x="3566160" y="3337560"/>
            <a:ext cx="2377440" cy="822960"/>
          </a:xfrm>
          <a:prstGeom prst="rect">
            <a:avLst/>
          </a:prstGeom>
          <a:noFill/>
          <a:ln/>
        </p:spPr>
        <p:txBody>
          <a:bodyPr wrap="square" lIns="0" tIns="0" rIns="0" bIns="0" rtlCol="0" anchor="ctr"/>
          <a:lstStyle/>
          <a:p>
            <a:pPr indent="0" marL="0">
              <a:buNone/>
            </a:pPr>
            <a:r>
              <a:rPr lang="en-US" sz="2000" dirty="0">
                <a:solidFill>
                  <a:srgbClr val="2A2522"/>
                </a:solidFill>
                <a:latin typeface="Calibri" pitchFamily="34" charset="0"/>
                <a:ea typeface="Calibri" pitchFamily="34" charset="-122"/>
                <a:cs typeface="Calibri" pitchFamily="34" charset="-120"/>
              </a:rPr>
              <a:t>đã nhận, đã thực hiện</a:t>
            </a:r>
            <a:endParaRPr lang="en-US" sz="2000" dirty="0"/>
          </a:p>
        </p:txBody>
      </p:sp>
      <p:sp>
        <p:nvSpPr>
          <p:cNvPr id="15" name="Shape 13"/>
          <p:cNvSpPr/>
          <p:nvPr/>
        </p:nvSpPr>
        <p:spPr>
          <a:xfrm>
            <a:off x="6217920" y="3154680"/>
            <a:ext cx="5303520" cy="0"/>
          </a:xfrm>
          <a:prstGeom prst="line">
            <a:avLst/>
          </a:prstGeom>
          <a:noFill/>
          <a:ln w="12700">
            <a:solidFill>
              <a:srgbClr val="2A2522"/>
            </a:solidFill>
            <a:prstDash val="solid"/>
          </a:ln>
        </p:spPr>
      </p:sp>
      <p:sp>
        <p:nvSpPr>
          <p:cNvPr id="16" name="Text 14"/>
          <p:cNvSpPr txBox="1"/>
          <p:nvPr/>
        </p:nvSpPr>
        <p:spPr>
          <a:xfrm>
            <a:off x="6217920" y="3337560"/>
            <a:ext cx="2286000" cy="822960"/>
          </a:xfrm>
          <a:prstGeom prst="rect">
            <a:avLst/>
          </a:prstGeom>
          <a:noFill/>
          <a:ln/>
        </p:spPr>
        <p:txBody>
          <a:bodyPr wrap="square" lIns="0" tIns="0" rIns="0" bIns="0" rtlCol="0" anchor="ctr"/>
          <a:lstStyle/>
          <a:p>
            <a:pPr indent="0" marL="0">
              <a:buNone/>
            </a:pPr>
            <a:r>
              <a:rPr lang="en-US" sz="2000" b="1" dirty="0">
                <a:solidFill>
                  <a:srgbClr val="2A2522"/>
                </a:solidFill>
                <a:latin typeface="Calibri" pitchFamily="34" charset="0"/>
                <a:ea typeface="Calibri" pitchFamily="34" charset="-122"/>
                <a:cs typeface="Calibri" pitchFamily="34" charset="-120"/>
              </a:rPr>
              <a:t>Người vận hành báo</a:t>
            </a:r>
            <a:endParaRPr lang="en-US" sz="2000" dirty="0"/>
          </a:p>
        </p:txBody>
      </p:sp>
      <p:sp>
        <p:nvSpPr>
          <p:cNvPr id="17" name="Text 15"/>
          <p:cNvSpPr txBox="1"/>
          <p:nvPr/>
        </p:nvSpPr>
        <p:spPr>
          <a:xfrm>
            <a:off x="8549640" y="3291840"/>
            <a:ext cx="548640" cy="822960"/>
          </a:xfrm>
          <a:prstGeom prst="rect">
            <a:avLst/>
          </a:prstGeom>
          <a:noFill/>
          <a:ln/>
        </p:spPr>
        <p:txBody>
          <a:bodyPr wrap="square" lIns="0" tIns="0" rIns="0" bIns="0" rtlCol="0" anchor="ctr"/>
          <a:lstStyle/>
          <a:p>
            <a:pPr algn="ctr" indent="0" marL="0">
              <a:buNone/>
            </a:pPr>
            <a:r>
              <a:rPr lang="en-US" sz="3600" dirty="0">
                <a:solidFill>
                  <a:srgbClr val="9E3B2B"/>
                </a:solidFill>
                <a:latin typeface="Calibri" pitchFamily="34" charset="0"/>
                <a:ea typeface="Calibri" pitchFamily="34" charset="-122"/>
                <a:cs typeface="Calibri" pitchFamily="34" charset="-120"/>
              </a:rPr>
              <a:t>≠</a:t>
            </a:r>
            <a:endParaRPr lang="en-US" sz="3600" dirty="0"/>
          </a:p>
        </p:txBody>
      </p:sp>
      <p:sp>
        <p:nvSpPr>
          <p:cNvPr id="18" name="Text 16"/>
          <p:cNvSpPr txBox="1"/>
          <p:nvPr/>
        </p:nvSpPr>
        <p:spPr>
          <a:xfrm>
            <a:off x="9144000" y="3337560"/>
            <a:ext cx="2377440" cy="822960"/>
          </a:xfrm>
          <a:prstGeom prst="rect">
            <a:avLst/>
          </a:prstGeom>
          <a:noFill/>
          <a:ln/>
        </p:spPr>
        <p:txBody>
          <a:bodyPr wrap="square" lIns="0" tIns="0" rIns="0" bIns="0" rtlCol="0" anchor="ctr"/>
          <a:lstStyle/>
          <a:p>
            <a:pPr indent="0" marL="0">
              <a:buNone/>
            </a:pPr>
            <a:r>
              <a:rPr lang="en-US" sz="2000" dirty="0">
                <a:solidFill>
                  <a:srgbClr val="2A2522"/>
                </a:solidFill>
                <a:latin typeface="Calibri" pitchFamily="34" charset="0"/>
                <a:ea typeface="Calibri" pitchFamily="34" charset="-122"/>
                <a:cs typeface="Calibri" pitchFamily="34" charset="-120"/>
              </a:rPr>
              <a:t>nền tảng xác nhận</a:t>
            </a:r>
            <a:endParaRPr lang="en-US" sz="2000" dirty="0"/>
          </a:p>
        </p:txBody>
      </p:sp>
      <p:sp>
        <p:nvSpPr>
          <p:cNvPr id="19" name="Shape 17"/>
          <p:cNvSpPr/>
          <p:nvPr/>
        </p:nvSpPr>
        <p:spPr>
          <a:xfrm>
            <a:off x="640080" y="4526280"/>
            <a:ext cx="5303520" cy="0"/>
          </a:xfrm>
          <a:prstGeom prst="line">
            <a:avLst/>
          </a:prstGeom>
          <a:noFill/>
          <a:ln w="12700">
            <a:solidFill>
              <a:srgbClr val="2A2522"/>
            </a:solidFill>
            <a:prstDash val="solid"/>
          </a:ln>
        </p:spPr>
      </p:sp>
      <p:sp>
        <p:nvSpPr>
          <p:cNvPr id="20" name="Text 18"/>
          <p:cNvSpPr txBox="1"/>
          <p:nvPr/>
        </p:nvSpPr>
        <p:spPr>
          <a:xfrm>
            <a:off x="640080" y="4709160"/>
            <a:ext cx="2286000" cy="822960"/>
          </a:xfrm>
          <a:prstGeom prst="rect">
            <a:avLst/>
          </a:prstGeom>
          <a:noFill/>
          <a:ln/>
        </p:spPr>
        <p:txBody>
          <a:bodyPr wrap="square" lIns="0" tIns="0" rIns="0" bIns="0" rtlCol="0" anchor="ctr"/>
          <a:lstStyle/>
          <a:p>
            <a:pPr indent="0" marL="0">
              <a:buNone/>
            </a:pPr>
            <a:r>
              <a:rPr lang="en-US" sz="2000" b="1" dirty="0">
                <a:solidFill>
                  <a:srgbClr val="2A2522"/>
                </a:solidFill>
                <a:latin typeface="Calibri" pitchFamily="34" charset="0"/>
                <a:ea typeface="Calibri" pitchFamily="34" charset="-122"/>
                <a:cs typeface="Calibri" pitchFamily="34" charset="-120"/>
              </a:rPr>
              <a:t>Mô phỏng</a:t>
            </a:r>
            <a:endParaRPr lang="en-US" sz="2000" dirty="0"/>
          </a:p>
        </p:txBody>
      </p:sp>
      <p:sp>
        <p:nvSpPr>
          <p:cNvPr id="21" name="Text 19"/>
          <p:cNvSpPr txBox="1"/>
          <p:nvPr/>
        </p:nvSpPr>
        <p:spPr>
          <a:xfrm>
            <a:off x="2971800" y="4663440"/>
            <a:ext cx="548640" cy="822960"/>
          </a:xfrm>
          <a:prstGeom prst="rect">
            <a:avLst/>
          </a:prstGeom>
          <a:noFill/>
          <a:ln/>
        </p:spPr>
        <p:txBody>
          <a:bodyPr wrap="square" lIns="0" tIns="0" rIns="0" bIns="0" rtlCol="0" anchor="ctr"/>
          <a:lstStyle/>
          <a:p>
            <a:pPr algn="ctr" indent="0" marL="0">
              <a:buNone/>
            </a:pPr>
            <a:r>
              <a:rPr lang="en-US" sz="3600" dirty="0">
                <a:solidFill>
                  <a:srgbClr val="9E3B2B"/>
                </a:solidFill>
                <a:latin typeface="Calibri" pitchFamily="34" charset="0"/>
                <a:ea typeface="Calibri" pitchFamily="34" charset="-122"/>
                <a:cs typeface="Calibri" pitchFamily="34" charset="-120"/>
              </a:rPr>
              <a:t>≠</a:t>
            </a:r>
            <a:endParaRPr lang="en-US" sz="3600" dirty="0"/>
          </a:p>
        </p:txBody>
      </p:sp>
      <p:sp>
        <p:nvSpPr>
          <p:cNvPr id="22" name="Text 20"/>
          <p:cNvSpPr txBox="1"/>
          <p:nvPr/>
        </p:nvSpPr>
        <p:spPr>
          <a:xfrm>
            <a:off x="3566160" y="4709160"/>
            <a:ext cx="2377440" cy="822960"/>
          </a:xfrm>
          <a:prstGeom prst="rect">
            <a:avLst/>
          </a:prstGeom>
          <a:noFill/>
          <a:ln/>
        </p:spPr>
        <p:txBody>
          <a:bodyPr wrap="square" lIns="0" tIns="0" rIns="0" bIns="0" rtlCol="0" anchor="ctr"/>
          <a:lstStyle/>
          <a:p>
            <a:pPr indent="0" marL="0">
              <a:buNone/>
            </a:pPr>
            <a:r>
              <a:rPr lang="en-US" sz="2000" dirty="0">
                <a:solidFill>
                  <a:srgbClr val="2A2522"/>
                </a:solidFill>
                <a:latin typeface="Calibri" pitchFamily="34" charset="0"/>
                <a:ea typeface="Calibri" pitchFamily="34" charset="-122"/>
                <a:cs typeface="Calibri" pitchFamily="34" charset="-120"/>
              </a:rPr>
              <a:t>dữ liệu thật</a:t>
            </a:r>
            <a:endParaRPr lang="en-US" sz="2000" dirty="0"/>
          </a:p>
        </p:txBody>
      </p:sp>
      <p:sp>
        <p:nvSpPr>
          <p:cNvPr id="23" name="Shape 21"/>
          <p:cNvSpPr/>
          <p:nvPr/>
        </p:nvSpPr>
        <p:spPr>
          <a:xfrm>
            <a:off x="6217920" y="4526280"/>
            <a:ext cx="5303520" cy="0"/>
          </a:xfrm>
          <a:prstGeom prst="line">
            <a:avLst/>
          </a:prstGeom>
          <a:noFill/>
          <a:ln w="12700">
            <a:solidFill>
              <a:srgbClr val="2A2522"/>
            </a:solidFill>
            <a:prstDash val="solid"/>
          </a:ln>
        </p:spPr>
      </p:sp>
      <p:sp>
        <p:nvSpPr>
          <p:cNvPr id="24" name="Text 22"/>
          <p:cNvSpPr txBox="1"/>
          <p:nvPr/>
        </p:nvSpPr>
        <p:spPr>
          <a:xfrm>
            <a:off x="6217920" y="4709160"/>
            <a:ext cx="2286000" cy="822960"/>
          </a:xfrm>
          <a:prstGeom prst="rect">
            <a:avLst/>
          </a:prstGeom>
          <a:noFill/>
          <a:ln/>
        </p:spPr>
        <p:txBody>
          <a:bodyPr wrap="square" lIns="0" tIns="0" rIns="0" bIns="0" rtlCol="0" anchor="ctr"/>
          <a:lstStyle/>
          <a:p>
            <a:pPr indent="0" marL="0">
              <a:buNone/>
            </a:pPr>
            <a:r>
              <a:rPr lang="en-US" sz="2000" b="1" dirty="0">
                <a:solidFill>
                  <a:srgbClr val="2A2522"/>
                </a:solidFill>
                <a:latin typeface="Calibri" pitchFamily="34" charset="0"/>
                <a:ea typeface="Calibri" pitchFamily="34" charset="-122"/>
                <a:cs typeface="Calibri" pitchFamily="34" charset="-120"/>
              </a:rPr>
              <a:t>Quan sát</a:t>
            </a:r>
            <a:endParaRPr lang="en-US" sz="2000" dirty="0"/>
          </a:p>
        </p:txBody>
      </p:sp>
      <p:sp>
        <p:nvSpPr>
          <p:cNvPr id="25" name="Text 23"/>
          <p:cNvSpPr txBox="1"/>
          <p:nvPr/>
        </p:nvSpPr>
        <p:spPr>
          <a:xfrm>
            <a:off x="8549640" y="4663440"/>
            <a:ext cx="548640" cy="822960"/>
          </a:xfrm>
          <a:prstGeom prst="rect">
            <a:avLst/>
          </a:prstGeom>
          <a:noFill/>
          <a:ln/>
        </p:spPr>
        <p:txBody>
          <a:bodyPr wrap="square" lIns="0" tIns="0" rIns="0" bIns="0" rtlCol="0" anchor="ctr"/>
          <a:lstStyle/>
          <a:p>
            <a:pPr algn="ctr" indent="0" marL="0">
              <a:buNone/>
            </a:pPr>
            <a:r>
              <a:rPr lang="en-US" sz="3600" dirty="0">
                <a:solidFill>
                  <a:srgbClr val="9E3B2B"/>
                </a:solidFill>
                <a:latin typeface="Calibri" pitchFamily="34" charset="0"/>
                <a:ea typeface="Calibri" pitchFamily="34" charset="-122"/>
                <a:cs typeface="Calibri" pitchFamily="34" charset="-120"/>
              </a:rPr>
              <a:t>≠</a:t>
            </a:r>
            <a:endParaRPr lang="en-US" sz="3600" dirty="0"/>
          </a:p>
        </p:txBody>
      </p:sp>
      <p:sp>
        <p:nvSpPr>
          <p:cNvPr id="26" name="Text 24"/>
          <p:cNvSpPr txBox="1"/>
          <p:nvPr/>
        </p:nvSpPr>
        <p:spPr>
          <a:xfrm>
            <a:off x="9144000" y="4709160"/>
            <a:ext cx="2377440" cy="822960"/>
          </a:xfrm>
          <a:prstGeom prst="rect">
            <a:avLst/>
          </a:prstGeom>
          <a:noFill/>
          <a:ln/>
        </p:spPr>
        <p:txBody>
          <a:bodyPr wrap="square" lIns="0" tIns="0" rIns="0" bIns="0" rtlCol="0" anchor="ctr"/>
          <a:lstStyle/>
          <a:p>
            <a:pPr indent="0" marL="0">
              <a:buNone/>
            </a:pPr>
            <a:r>
              <a:rPr lang="en-US" sz="2000" dirty="0">
                <a:solidFill>
                  <a:srgbClr val="2A2522"/>
                </a:solidFill>
                <a:latin typeface="Calibri" pitchFamily="34" charset="0"/>
                <a:ea typeface="Calibri" pitchFamily="34" charset="-122"/>
                <a:cs typeface="Calibri" pitchFamily="34" charset="-120"/>
              </a:rPr>
              <a:t>nhân quả</a:t>
            </a:r>
            <a:endParaRPr lang="en-US" sz="2000" dirty="0"/>
          </a:p>
        </p:txBody>
      </p:sp>
      <p:sp>
        <p:nvSpPr>
          <p:cNvPr id="27" name="Text 25"/>
          <p:cNvSpPr txBox="1"/>
          <p:nvPr/>
        </p:nvSpPr>
        <p:spPr>
          <a:xfrm>
            <a:off x="640080" y="5852160"/>
            <a:ext cx="10881360" cy="365760"/>
          </a:xfrm>
          <a:prstGeom prst="rect">
            <a:avLst/>
          </a:prstGeom>
          <a:noFill/>
          <a:ln/>
        </p:spPr>
        <p:txBody>
          <a:bodyPr wrap="square" lIns="0" tIns="0" rIns="0" bIns="0" rtlCol="0" anchor="t"/>
          <a:lstStyle/>
          <a:p>
            <a:pPr indent="0" marL="0">
              <a:buNone/>
            </a:pPr>
            <a:r>
              <a:rPr lang="en-US" sz="1500" dirty="0">
                <a:solidFill>
                  <a:srgbClr val="5A5047"/>
                </a:solidFill>
                <a:latin typeface="Calibri" pitchFamily="34" charset="0"/>
                <a:ea typeface="Calibri" pitchFamily="34" charset="-122"/>
                <a:cs typeface="Calibri" pitchFamily="34" charset="-120"/>
              </a:rPr>
              <a:t>Mỗi cặp là một quy tắc được kiểm tra trong mã và test, không phải khẩu hiệu.</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Tổng kết nói thẳng điều chưa biết</a:t>
            </a:r>
            <a:endParaRPr lang="en-US" sz="3400" dirty="0"/>
          </a:p>
        </p:txBody>
      </p:sp>
      <p:sp>
        <p:nvSpPr>
          <p:cNvPr id="3" name="Shape 1"/>
          <p:cNvSpPr/>
          <p:nvPr/>
        </p:nvSpPr>
        <p:spPr>
          <a:xfrm>
            <a:off x="4672584" y="1655064"/>
            <a:ext cx="6931152" cy="3930777"/>
          </a:xfrm>
          <a:prstGeom prst="rect">
            <a:avLst/>
          </a:prstGeom>
          <a:solidFill>
            <a:srgbClr val="FFFFFF"/>
          </a:solidFill>
          <a:ln w="12700">
            <a:solidFill>
              <a:srgbClr val="D8D0C4"/>
            </a:solidFill>
            <a:prstDash val="solid"/>
          </a:ln>
          <a:effectLst>
            <a:outerShdw sx="100000" sy="100000" kx="0" ky="0" algn="bl" rotWithShape="0" blurRad="101600" dist="25400" dir="5400000">
              <a:srgbClr val="2A2522">
                <a:alpha val="12000"/>
              </a:srgbClr>
            </a:outerShdw>
          </a:effectLst>
        </p:spPr>
      </p:sp>
      <p:pic>
        <p:nvPicPr>
          <p:cNvPr id="4" name="Image 0" descr="Màn Tổng kết: số liệu, biểu đồ diễn biến, bảng gợi ý và bạn đã làm gì, ô Điều chưa biết">    </p:cNvPr>
          <p:cNvPicPr>
            <a:picLocks noChangeAspect="1"/>
          </p:cNvPicPr>
          <p:nvPr/>
        </p:nvPicPr>
        <p:blipFill>
          <a:blip r:embed="rId1"/>
          <a:stretch>
            <a:fillRect/>
          </a:stretch>
        </p:blipFill>
        <p:spPr>
          <a:xfrm>
            <a:off x="4709160" y="1691640"/>
            <a:ext cx="6858000" cy="3857625"/>
          </a:xfrm>
          <a:prstGeom prst="rect">
            <a:avLst/>
          </a:prstGeom>
        </p:spPr>
      </p:pic>
      <p:sp>
        <p:nvSpPr>
          <p:cNvPr id="5" name="Text 2"/>
          <p:cNvSpPr txBox="1"/>
          <p:nvPr/>
        </p:nvSpPr>
        <p:spPr>
          <a:xfrm>
            <a:off x="640080" y="1828800"/>
            <a:ext cx="3749040" cy="384048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Bảng "Gợi ý của trợ lý và bạn đã làm gì": nhận, bỏ qua, tự làm</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Đơn hàng: Chưa biết, vì thêm giỏ không phải mua và bản mô phỏng không trả số đơn</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"Ghim có làm tăng thêm giỏ không?" Chưa biết. Cần chế độ Thí nghiệm</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Nền khoa học: bộ ước lượng đã kiểm chứng trên mô phỏng</a:t>
            </a:r>
            <a:endParaRPr lang="en-US" sz="3400" dirty="0"/>
          </a:p>
        </p:txBody>
      </p:sp>
      <p:sp>
        <p:nvSpPr>
          <p:cNvPr id="3" name="Shape 1"/>
          <p:cNvSpPr/>
          <p:nvPr/>
        </p:nvSpPr>
        <p:spPr>
          <a:xfrm>
            <a:off x="640080" y="1828800"/>
            <a:ext cx="3429000" cy="0"/>
          </a:xfrm>
          <a:prstGeom prst="line">
            <a:avLst/>
          </a:prstGeom>
          <a:noFill/>
          <a:ln w="12700">
            <a:solidFill>
              <a:srgbClr val="2A2522"/>
            </a:solidFill>
            <a:prstDash val="solid"/>
          </a:ln>
        </p:spPr>
      </p:sp>
      <p:sp>
        <p:nvSpPr>
          <p:cNvPr id="4" name="Text 2"/>
          <p:cNvSpPr txBox="1"/>
          <p:nvPr/>
        </p:nvSpPr>
        <p:spPr>
          <a:xfrm>
            <a:off x="640080" y="2011680"/>
            <a:ext cx="3429000" cy="1097280"/>
          </a:xfrm>
          <a:prstGeom prst="rect">
            <a:avLst/>
          </a:prstGeom>
          <a:noFill/>
          <a:ln/>
        </p:spPr>
        <p:txBody>
          <a:bodyPr wrap="square" lIns="0" tIns="0" rIns="0" bIns="0" rtlCol="0" anchor="t"/>
          <a:lstStyle/>
          <a:p>
            <a:pPr indent="0" marL="0">
              <a:buNone/>
            </a:pPr>
            <a:r>
              <a:rPr lang="en-US" sz="6000" dirty="0">
                <a:solidFill>
                  <a:srgbClr val="2A2522"/>
                </a:solidFill>
                <a:latin typeface="Calibri" pitchFamily="34" charset="0"/>
                <a:ea typeface="Calibri" pitchFamily="34" charset="-122"/>
                <a:cs typeface="Calibri" pitchFamily="34" charset="-120"/>
              </a:rPr>
              <a:t>3,50%</a:t>
            </a:r>
            <a:endParaRPr lang="en-US" sz="6000" dirty="0"/>
          </a:p>
        </p:txBody>
      </p:sp>
      <p:sp>
        <p:nvSpPr>
          <p:cNvPr id="5" name="Text 3"/>
          <p:cNvSpPr txBox="1"/>
          <p:nvPr/>
        </p:nvSpPr>
        <p:spPr>
          <a:xfrm>
            <a:off x="640080" y="3200400"/>
            <a:ext cx="3429000" cy="73152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bác bỏ giả thuyết khi không có tác động</a:t>
            </a:r>
            <a:endParaRPr lang="en-US" sz="1600" dirty="0"/>
          </a:p>
        </p:txBody>
      </p:sp>
      <p:sp>
        <p:nvSpPr>
          <p:cNvPr id="6" name="Text 4"/>
          <p:cNvSpPr txBox="1"/>
          <p:nvPr/>
        </p:nvSpPr>
        <p:spPr>
          <a:xfrm>
            <a:off x="640080" y="4023360"/>
            <a:ext cx="3429000" cy="731520"/>
          </a:xfrm>
          <a:prstGeom prst="rect">
            <a:avLst/>
          </a:prstGeom>
          <a:noFill/>
          <a:ln/>
        </p:spPr>
        <p:txBody>
          <a:bodyPr wrap="square" lIns="0" tIns="0" rIns="0" bIns="0" rtlCol="0" anchor="t"/>
          <a:lstStyle/>
          <a:p>
            <a:pPr indent="0" marL="0">
              <a:buNone/>
            </a:pPr>
            <a:r>
              <a:rPr lang="en-US" sz="1400" dirty="0">
                <a:solidFill>
                  <a:srgbClr val="5A5047"/>
                </a:solidFill>
                <a:latin typeface="Calibri" pitchFamily="34" charset="0"/>
                <a:ea typeface="Calibri" pitchFamily="34" charset="-122"/>
                <a:cs typeface="Calibri" pitchFamily="34" charset="-120"/>
              </a:rPr>
              <a:t>7/200 lần lặp, mức danh nghĩa 5%, p = 0,4168</a:t>
            </a:r>
            <a:endParaRPr lang="en-US" sz="1400" dirty="0"/>
          </a:p>
        </p:txBody>
      </p:sp>
      <p:sp>
        <p:nvSpPr>
          <p:cNvPr id="7" name="Shape 5"/>
          <p:cNvSpPr/>
          <p:nvPr/>
        </p:nvSpPr>
        <p:spPr>
          <a:xfrm>
            <a:off x="4343400" y="1828800"/>
            <a:ext cx="3429000" cy="0"/>
          </a:xfrm>
          <a:prstGeom prst="line">
            <a:avLst/>
          </a:prstGeom>
          <a:noFill/>
          <a:ln w="12700">
            <a:solidFill>
              <a:srgbClr val="2A2522"/>
            </a:solidFill>
            <a:prstDash val="solid"/>
          </a:ln>
        </p:spPr>
      </p:sp>
      <p:sp>
        <p:nvSpPr>
          <p:cNvPr id="8" name="Text 6"/>
          <p:cNvSpPr txBox="1"/>
          <p:nvPr/>
        </p:nvSpPr>
        <p:spPr>
          <a:xfrm>
            <a:off x="4343400" y="2011680"/>
            <a:ext cx="3429000" cy="1097280"/>
          </a:xfrm>
          <a:prstGeom prst="rect">
            <a:avLst/>
          </a:prstGeom>
          <a:noFill/>
          <a:ln/>
        </p:spPr>
        <p:txBody>
          <a:bodyPr wrap="square" lIns="0" tIns="0" rIns="0" bIns="0" rtlCol="0" anchor="t"/>
          <a:lstStyle/>
          <a:p>
            <a:pPr indent="0" marL="0">
              <a:buNone/>
            </a:pPr>
            <a:r>
              <a:rPr lang="en-US" sz="6000" dirty="0">
                <a:solidFill>
                  <a:srgbClr val="2A2522"/>
                </a:solidFill>
                <a:latin typeface="Calibri" pitchFamily="34" charset="0"/>
                <a:ea typeface="Calibri" pitchFamily="34" charset="-122"/>
                <a:cs typeface="Calibri" pitchFamily="34" charset="-120"/>
              </a:rPr>
              <a:t>−0,84%</a:t>
            </a:r>
            <a:endParaRPr lang="en-US" sz="6000" dirty="0"/>
          </a:p>
        </p:txBody>
      </p:sp>
      <p:sp>
        <p:nvSpPr>
          <p:cNvPr id="9" name="Text 7"/>
          <p:cNvSpPr txBox="1"/>
          <p:nvPr/>
        </p:nvSpPr>
        <p:spPr>
          <a:xfrm>
            <a:off x="4343400" y="3200400"/>
            <a:ext cx="3429000" cy="73152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lệch khi thu hồi tác động biết trước</a:t>
            </a:r>
            <a:endParaRPr lang="en-US" sz="1600" dirty="0"/>
          </a:p>
        </p:txBody>
      </p:sp>
      <p:sp>
        <p:nvSpPr>
          <p:cNvPr id="10" name="Text 8"/>
          <p:cNvSpPr txBox="1"/>
          <p:nvPr/>
        </p:nvSpPr>
        <p:spPr>
          <a:xfrm>
            <a:off x="4343400" y="4023360"/>
            <a:ext cx="3429000" cy="731520"/>
          </a:xfrm>
          <a:prstGeom prst="rect">
            <a:avLst/>
          </a:prstGeom>
          <a:noFill/>
          <a:ln/>
        </p:spPr>
        <p:txBody>
          <a:bodyPr wrap="square" lIns="0" tIns="0" rIns="0" bIns="0" rtlCol="0" anchor="t"/>
          <a:lstStyle/>
          <a:p>
            <a:pPr indent="0" marL="0">
              <a:buNone/>
            </a:pPr>
            <a:r>
              <a:rPr lang="en-US" sz="1400" dirty="0">
                <a:solidFill>
                  <a:srgbClr val="5A5047"/>
                </a:solidFill>
                <a:latin typeface="Calibri" pitchFamily="34" charset="0"/>
                <a:ea typeface="Calibri" pitchFamily="34" charset="-122"/>
                <a:cs typeface="Calibri" pitchFamily="34" charset="-120"/>
              </a:rPr>
              <a:t>khoảng tin cậy phủ 37/40 lần</a:t>
            </a:r>
            <a:endParaRPr lang="en-US" sz="1400" dirty="0"/>
          </a:p>
        </p:txBody>
      </p:sp>
      <p:sp>
        <p:nvSpPr>
          <p:cNvPr id="11" name="Shape 9"/>
          <p:cNvSpPr/>
          <p:nvPr/>
        </p:nvSpPr>
        <p:spPr>
          <a:xfrm>
            <a:off x="8046720" y="1828800"/>
            <a:ext cx="3429000" cy="0"/>
          </a:xfrm>
          <a:prstGeom prst="line">
            <a:avLst/>
          </a:prstGeom>
          <a:noFill/>
          <a:ln w="12700">
            <a:solidFill>
              <a:srgbClr val="2A2522"/>
            </a:solidFill>
            <a:prstDash val="solid"/>
          </a:ln>
        </p:spPr>
      </p:sp>
      <p:sp>
        <p:nvSpPr>
          <p:cNvPr id="12" name="Text 10"/>
          <p:cNvSpPr txBox="1"/>
          <p:nvPr/>
        </p:nvSpPr>
        <p:spPr>
          <a:xfrm>
            <a:off x="8046720" y="2011680"/>
            <a:ext cx="3429000" cy="1097280"/>
          </a:xfrm>
          <a:prstGeom prst="rect">
            <a:avLst/>
          </a:prstGeom>
          <a:noFill/>
          <a:ln/>
        </p:spPr>
        <p:txBody>
          <a:bodyPr wrap="square" lIns="0" tIns="0" rIns="0" bIns="0" rtlCol="0" anchor="t"/>
          <a:lstStyle/>
          <a:p>
            <a:pPr indent="0" marL="0">
              <a:buNone/>
            </a:pPr>
            <a:r>
              <a:rPr lang="en-US" sz="6000" dirty="0">
                <a:solidFill>
                  <a:srgbClr val="2A2522"/>
                </a:solidFill>
                <a:latin typeface="Calibri" pitchFamily="34" charset="0"/>
                <a:ea typeface="Calibri" pitchFamily="34" charset="-122"/>
                <a:cs typeface="Calibri" pitchFamily="34" charset="-120"/>
              </a:rPr>
              <a:t>16,4%</a:t>
            </a:r>
            <a:endParaRPr lang="en-US" sz="6000" dirty="0"/>
          </a:p>
        </p:txBody>
      </p:sp>
      <p:sp>
        <p:nvSpPr>
          <p:cNvPr id="13" name="Text 11"/>
          <p:cNvSpPr txBox="1"/>
          <p:nvPr/>
        </p:nvSpPr>
        <p:spPr>
          <a:xfrm>
            <a:off x="8046720" y="3200400"/>
            <a:ext cx="3429000" cy="731520"/>
          </a:xfrm>
          <a:prstGeom prst="rect">
            <a:avLst/>
          </a:prstGeom>
          <a:noFill/>
          <a:ln/>
        </p:spPr>
        <p:txBody>
          <a:bodyPr wrap="square" lIns="0" tIns="0" rIns="0" bIns="0" rtlCol="0" anchor="t"/>
          <a:lstStyle/>
          <a:p>
            <a:pPr indent="0" marL="0">
              <a:buNone/>
            </a:pPr>
            <a:r>
              <a:rPr lang="en-US" sz="1600" b="1" dirty="0">
                <a:solidFill>
                  <a:srgbClr val="2A2522"/>
                </a:solidFill>
                <a:latin typeface="Calibri" pitchFamily="34" charset="0"/>
                <a:ea typeface="Calibri" pitchFamily="34" charset="-122"/>
                <a:cs typeface="Calibri" pitchFamily="34" charset="-120"/>
              </a:rPr>
              <a:t>tác động nhỏ nhất phát hiện được (MDE)</a:t>
            </a:r>
            <a:endParaRPr lang="en-US" sz="1600" dirty="0"/>
          </a:p>
        </p:txBody>
      </p:sp>
      <p:sp>
        <p:nvSpPr>
          <p:cNvPr id="14" name="Text 12"/>
          <p:cNvSpPr txBox="1"/>
          <p:nvPr/>
        </p:nvSpPr>
        <p:spPr>
          <a:xfrm>
            <a:off x="8046720" y="4023360"/>
            <a:ext cx="3429000" cy="731520"/>
          </a:xfrm>
          <a:prstGeom prst="rect">
            <a:avLst/>
          </a:prstGeom>
          <a:noFill/>
          <a:ln/>
        </p:spPr>
        <p:txBody>
          <a:bodyPr wrap="square" lIns="0" tIns="0" rIns="0" bIns="0" rtlCol="0" anchor="t"/>
          <a:lstStyle/>
          <a:p>
            <a:pPr indent="0" marL="0">
              <a:buNone/>
            </a:pPr>
            <a:r>
              <a:rPr lang="en-US" sz="1400" dirty="0">
                <a:solidFill>
                  <a:srgbClr val="5A5047"/>
                </a:solidFill>
                <a:latin typeface="Calibri" pitchFamily="34" charset="0"/>
                <a:ea typeface="Calibri" pitchFamily="34" charset="-122"/>
                <a:cs typeface="Calibri" pitchFamily="34" charset="-120"/>
              </a:rPr>
              <a:t>ở khoảng 59 người xem đồng thời, mô phỏng</a:t>
            </a:r>
            <a:endParaRPr lang="en-US" sz="1400" dirty="0"/>
          </a:p>
        </p:txBody>
      </p:sp>
      <p:sp>
        <p:nvSpPr>
          <p:cNvPr id="15" name="Text 13"/>
          <p:cNvSpPr txBox="1"/>
          <p:nvPr/>
        </p:nvSpPr>
        <p:spPr>
          <a:xfrm>
            <a:off x="640080" y="5212080"/>
            <a:ext cx="10881360" cy="822960"/>
          </a:xfrm>
          <a:prstGeom prst="rect">
            <a:avLst/>
          </a:prstGeom>
          <a:noFill/>
          <a:ln/>
        </p:spPr>
        <p:txBody>
          <a:bodyPr wrap="square" lIns="0" tIns="0" rIns="0" bIns="0" rtlCol="0" anchor="t"/>
          <a:lstStyle/>
          <a:p>
            <a:pPr indent="0" marL="0">
              <a:buNone/>
            </a:pPr>
            <a:r>
              <a:rPr lang="en-US" sz="1500" dirty="0">
                <a:solidFill>
                  <a:srgbClr val="5A5047"/>
                </a:solidFill>
                <a:latin typeface="Calibri" pitchFamily="34" charset="0"/>
                <a:ea typeface="Calibri" pitchFamily="34" charset="-122"/>
                <a:cs typeface="Calibri" pitchFamily="34" charset="-120"/>
              </a:rPr>
              <a:t>Mô phỏng hiệu chỉnh theo bộ dữ liệu KuaiLive (hình dạng phân phối, không dùng mức). Kết quả chạy lại bằng một lệnh trong kho mã. Đây chưa phải kết quả trên buổi live thật.</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Đính chính: chúng em tự sửa các số của hồ sơ vòng 1</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4206240"/>
                <a:gridCol w="3017520"/>
                <a:gridCol w="3657600"/>
              </a:tblGrid>
              <a:tr h="365760">
                <a:tc>
                  <a:txBody>
                    <a:bodyPr/>
                    <a:lstStyle/>
                    <a:p>
                      <a:pPr indent="0" marL="0">
                        <a:buNone/>
                      </a:pPr>
                      <a:r>
                        <a:rPr lang="en-US" sz="1200" b="1" dirty="0">
                          <a:solidFill>
                            <a:srgbClr val="5A5047"/>
                          </a:solidFill>
                          <a:latin typeface="Calibri" pitchFamily="34" charset="0"/>
                          <a:ea typeface="Calibri" pitchFamily="34" charset="-122"/>
                          <a:cs typeface="Calibri" pitchFamily="34" charset="-120"/>
                        </a:rPr>
                        <a:t>HẠNG MỤC</a:t>
                      </a:r>
                      <a:endParaRPr lang="en-US" sz="1200" dirty="0">
                        <a:latin typeface="Calibri" charset="0"/>
                        <a:ea typeface="Calibri" charset="0"/>
                        <a:cs typeface="Calibri" charset="0"/>
                      </a:endParaRPr>
                    </a:p>
                  </a:txBody>
                  <a:tcPr marL="0" marR="91440" marT="45720" marB="45720">
                    <a:lnL w="0" cap="flat" cmpd="sng" algn="ctr">
                      <a:noFill/>
                    </a:lnL>
                    <a:lnR w="0" cap="flat" cmpd="sng" algn="ctr">
                      <a:noFill/>
                    </a:lnR>
                    <a:lnT w="0" cap="flat" cmpd="sng" algn="ctr">
                      <a:noFill/>
                    </a:lnT>
                    <a:lnB w="12700" cap="flat" cmpd="sng" algn="ctr">
                      <a:solidFill>
                        <a:srgbClr val="2A2522"/>
                      </a:solidFill>
                      <a:prstDash val="solid"/>
                      <a:round/>
                      <a:headEnd type="none" w="med" len="med"/>
                      <a:tailEnd type="none" w="med" len="med"/>
                    </a:lnB>
                    <a:solidFill>
                      <a:srgbClr val="F6F3EE"/>
                    </a:solidFill>
                  </a:tcPr>
                </a:tc>
                <a:tc>
                  <a:txBody>
                    <a:bodyPr/>
                    <a:lstStyle/>
                    <a:p>
                      <a:pPr indent="0" marL="0">
                        <a:buNone/>
                      </a:pPr>
                      <a:r>
                        <a:rPr lang="en-US" sz="1200" b="1" dirty="0">
                          <a:solidFill>
                            <a:srgbClr val="5A5047"/>
                          </a:solidFill>
                          <a:latin typeface="Calibri" pitchFamily="34" charset="0"/>
                          <a:ea typeface="Calibri" pitchFamily="34" charset="-122"/>
                          <a:cs typeface="Calibri" pitchFamily="34" charset="-120"/>
                        </a:rPr>
                        <a:t>HỒ SƠ VÒNG 1</a:t>
                      </a:r>
                      <a:endParaRPr lang="en-US" sz="1200" dirty="0">
                        <a:latin typeface="Calibri" charset="0"/>
                        <a:ea typeface="Calibri" charset="0"/>
                        <a:cs typeface="Calibri" charset="0"/>
                      </a:endParaRPr>
                    </a:p>
                  </a:txBody>
                  <a:tcPr marL="0" marR="91440" marT="45720" marB="45720">
                    <a:lnL w="0" cap="flat" cmpd="sng" algn="ctr">
                      <a:noFill/>
                    </a:lnL>
                    <a:lnR w="0" cap="flat" cmpd="sng" algn="ctr">
                      <a:noFill/>
                    </a:lnR>
                    <a:lnT w="0" cap="flat" cmpd="sng" algn="ctr">
                      <a:noFill/>
                    </a:lnT>
                    <a:lnB w="12700" cap="flat" cmpd="sng" algn="ctr">
                      <a:solidFill>
                        <a:srgbClr val="2A2522"/>
                      </a:solidFill>
                      <a:prstDash val="solid"/>
                      <a:round/>
                      <a:headEnd type="none" w="med" len="med"/>
                      <a:tailEnd type="none" w="med" len="med"/>
                    </a:lnB>
                    <a:solidFill>
                      <a:srgbClr val="F6F3EE"/>
                    </a:solidFill>
                  </a:tcPr>
                </a:tc>
                <a:tc>
                  <a:txBody>
                    <a:bodyPr/>
                    <a:lstStyle/>
                    <a:p>
                      <a:pPr indent="0" marL="0">
                        <a:buNone/>
                      </a:pPr>
                      <a:r>
                        <a:rPr lang="en-US" sz="1200" b="1" dirty="0">
                          <a:solidFill>
                            <a:srgbClr val="5A5047"/>
                          </a:solidFill>
                          <a:latin typeface="Calibri" pitchFamily="34" charset="0"/>
                          <a:ea typeface="Calibri" pitchFamily="34" charset="-122"/>
                          <a:cs typeface="Calibri" pitchFamily="34" charset="-120"/>
                        </a:rPr>
                        <a:t>HIỆN HÀNH</a:t>
                      </a:r>
                      <a:endParaRPr lang="en-US" sz="1200" dirty="0">
                        <a:latin typeface="Calibri" charset="0"/>
                        <a:ea typeface="Calibri" charset="0"/>
                        <a:cs typeface="Calibri" charset="0"/>
                      </a:endParaRPr>
                    </a:p>
                  </a:txBody>
                  <a:tcPr marL="0" marR="91440" marT="45720" marB="45720">
                    <a:lnL w="0" cap="flat" cmpd="sng" algn="ctr">
                      <a:noFill/>
                    </a:lnL>
                    <a:lnR w="0" cap="flat" cmpd="sng" algn="ctr">
                      <a:noFill/>
                    </a:lnR>
                    <a:lnT w="0" cap="flat" cmpd="sng" algn="ctr">
                      <a:noFill/>
                    </a:lnT>
                    <a:lnB w="12700" cap="flat" cmpd="sng" algn="ctr">
                      <a:solidFill>
                        <a:srgbClr val="2A2522"/>
                      </a:solidFill>
                      <a:prstDash val="solid"/>
                      <a:round/>
                      <a:headEnd type="none" w="med" len="med"/>
                      <a:tailEnd type="none" w="med" len="med"/>
                    </a:lnB>
                    <a:solidFill>
                      <a:srgbClr val="F6F3EE"/>
                    </a:solidFill>
                  </a:tcPr>
                </a:tc>
              </a:tr>
              <a:tr h="566928">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Bác bỏ khi không có tác động (A/A)</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4,5%; p = 0,872</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3,50%; p = 0,4168</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r h="566928">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Lệch khi thu hồi tác động biết trước</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−0,84%</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r h="566928">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MDE theo lượt nhấp</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20,1%</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16,4% (số cũ không tái lập được)</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r h="640080">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Bộ phân loại ý định, trên chat bán hàng thật</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macro-F1 0,271 ("gán nhãn tay")</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0,211; nhãn do tác tử AI gán</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r h="566928">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Người xem đồng thời</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dirty="0">
                          <a:solidFill>
                            <a:srgbClr val="2A2522"/>
                          </a:solidFill>
                          <a:latin typeface="Calibri" pitchFamily="34" charset="0"/>
                          <a:ea typeface="Calibri" pitchFamily="34" charset="-122"/>
                          <a:cs typeface="Calibri" pitchFamily="34" charset="-120"/>
                        </a:rPr>
                        <a:t>"thực đo 5–15 người"</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c>
                  <a:txBody>
                    <a:bodyPr/>
                    <a:lstStyle/>
                    <a:p>
                      <a:pPr indent="0" marL="0">
                        <a:buNone/>
                      </a:pPr>
                      <a:r>
                        <a:rPr lang="en-US" sz="1400" b="1" dirty="0">
                          <a:solidFill>
                            <a:srgbClr val="2A2522"/>
                          </a:solidFill>
                          <a:latin typeface="Calibri" pitchFamily="34" charset="0"/>
                          <a:ea typeface="Calibri" pitchFamily="34" charset="-122"/>
                          <a:cs typeface="Calibri" pitchFamily="34" charset="-120"/>
                        </a:rPr>
                        <a:t>ước tính từ CPM, chưa đo</a:t>
                      </a:r>
                      <a:endParaRPr lang="en-US" sz="1400" dirty="0">
                        <a:latin typeface="Calibri" charset="0"/>
                        <a:ea typeface="Calibri" charset="0"/>
                        <a:cs typeface="Calibri" charset="0"/>
                      </a:endParaRPr>
                    </a:p>
                  </a:txBody>
                  <a:tcPr marL="0" marR="91440" marT="45720" marB="45720" anchor="ctr">
                    <a:lnL w="0" cap="flat" cmpd="sng" algn="ctr">
                      <a:noFill/>
                    </a:lnL>
                    <a:lnR w="0" cap="flat" cmpd="sng" algn="ctr">
                      <a:noFill/>
                    </a:lnR>
                    <a:lnT w="0" cap="flat" cmpd="sng" algn="ctr">
                      <a:noFill/>
                    </a:lnT>
                    <a:lnB w="9525" cap="flat" cmpd="sng" algn="ctr">
                      <a:solidFill>
                        <a:srgbClr val="D8D0C4"/>
                      </a:solidFill>
                      <a:prstDash val="solid"/>
                      <a:round/>
                      <a:headEnd type="none" w="med" len="med"/>
                      <a:tailEnd type="none" w="med" len="med"/>
                    </a:lnB>
                    <a:solidFill>
                      <a:srgbClr val="F6F3EE"/>
                    </a:solidFill>
                  </a:tcPr>
                </a:tc>
              </a:tr>
            </a:tbl>
          </a:graphicData>
        </a:graphic>
      </p:graphicFrame>
      <p:sp>
        <p:nvSpPr>
          <p:cNvPr id="4" name="Text 1"/>
          <p:cNvSpPr txBox="1"/>
          <p:nvPr/>
        </p:nvSpPr>
        <p:spPr>
          <a:xfrm>
            <a:off x="640080" y="5486400"/>
            <a:ext cx="10881360" cy="457200"/>
          </a:xfrm>
          <a:prstGeom prst="rect">
            <a:avLst/>
          </a:prstGeom>
          <a:noFill/>
          <a:ln/>
        </p:spPr>
        <p:txBody>
          <a:bodyPr wrap="square" lIns="0" tIns="0" rIns="0" bIns="0" rtlCol="0" anchor="t"/>
          <a:lstStyle/>
          <a:p>
            <a:pPr indent="0" marL="0">
              <a:buNone/>
            </a:pPr>
            <a:r>
              <a:rPr lang="en-US" sz="1800" dirty="0">
                <a:solidFill>
                  <a:srgbClr val="9E3B2B"/>
                </a:solidFill>
                <a:latin typeface="Calibri" pitchFamily="34" charset="0"/>
                <a:ea typeface="Calibri" pitchFamily="34" charset="-122"/>
                <a:cs typeface="Calibri" pitchFamily="34" charset="-120"/>
              </a:rPr>
              <a:t>Thà nói "chưa kết luận được" còn hơn nói một con số sai bằng giọng chắc chắn.</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Chưa chứng minh được gì, và sẽ chứng minh thế nào</a:t>
            </a:r>
            <a:endParaRPr lang="en-US" sz="3400" dirty="0"/>
          </a:p>
        </p:txBody>
      </p:sp>
      <p:sp>
        <p:nvSpPr>
          <p:cNvPr id="3" name="Text 1"/>
          <p:cNvSpPr txBox="1"/>
          <p:nvPr/>
        </p:nvSpPr>
        <p:spPr>
          <a:xfrm>
            <a:off x="640080" y="1783080"/>
            <a:ext cx="4572000" cy="274320"/>
          </a:xfrm>
          <a:prstGeom prst="rect">
            <a:avLst/>
          </a:prstGeom>
          <a:noFill/>
          <a:ln/>
        </p:spPr>
        <p:txBody>
          <a:bodyPr wrap="square" lIns="0" tIns="0" rIns="0" bIns="0" rtlCol="0" anchor="t"/>
          <a:lstStyle/>
          <a:p>
            <a:pPr indent="0" marL="0">
              <a:buNone/>
            </a:pPr>
            <a:r>
              <a:rPr lang="en-US" sz="1200" b="1" spc="200" kern="0" dirty="0">
                <a:solidFill>
                  <a:srgbClr val="8A5A00"/>
                </a:solidFill>
                <a:latin typeface="Calibri" pitchFamily="34" charset="0"/>
                <a:ea typeface="Calibri" pitchFamily="34" charset="-122"/>
                <a:cs typeface="Calibri" pitchFamily="34" charset="-120"/>
              </a:rPr>
              <a:t>CHƯA CÓ</a:t>
            </a:r>
            <a:endParaRPr lang="en-US" sz="1200" dirty="0"/>
          </a:p>
        </p:txBody>
      </p:sp>
      <p:sp>
        <p:nvSpPr>
          <p:cNvPr id="4" name="Text 2"/>
          <p:cNvSpPr txBox="1"/>
          <p:nvPr/>
        </p:nvSpPr>
        <p:spPr>
          <a:xfrm>
            <a:off x="640080" y="2148840"/>
            <a:ext cx="5029200" cy="31089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Chưa có phiên thí nghiệm switchback thật nào</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Chưa phỏng vấn người bán nào</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Nhãn ý định do AI gán, chưa có nhãn của người</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Chưa có dữ liệu thêm giỏ và đơn hàng thật nối với bình luận</a:t>
            </a:r>
            <a:endParaRPr lang="en-US" sz="1600" dirty="0"/>
          </a:p>
        </p:txBody>
      </p:sp>
      <p:sp>
        <p:nvSpPr>
          <p:cNvPr id="5" name="Text 3"/>
          <p:cNvSpPr txBox="1"/>
          <p:nvPr/>
        </p:nvSpPr>
        <p:spPr>
          <a:xfrm>
            <a:off x="6309360" y="1783080"/>
            <a:ext cx="5029200" cy="274320"/>
          </a:xfrm>
          <a:prstGeom prst="rect">
            <a:avLst/>
          </a:prstGeom>
          <a:noFill/>
          <a:ln/>
        </p:spPr>
        <p:txBody>
          <a:bodyPr wrap="square" lIns="0" tIns="0" rIns="0" bIns="0" rtlCol="0" anchor="t"/>
          <a:lstStyle/>
          <a:p>
            <a:pPr indent="0" marL="0">
              <a:buNone/>
            </a:pPr>
            <a:r>
              <a:rPr lang="en-US" sz="1200" b="1" spc="200" kern="0" dirty="0">
                <a:solidFill>
                  <a:srgbClr val="9E3B2B"/>
                </a:solidFill>
                <a:latin typeface="Calibri" pitchFamily="34" charset="0"/>
                <a:ea typeface="Calibri" pitchFamily="34" charset="-122"/>
                <a:cs typeface="Calibri" pitchFamily="34" charset="-120"/>
              </a:rPr>
              <a:t>CÁCH ĐÁNH GIÁ SẮP TỚI</a:t>
            </a:r>
            <a:endParaRPr lang="en-US" sz="1200" dirty="0"/>
          </a:p>
        </p:txBody>
      </p:sp>
      <p:sp>
        <p:nvSpPr>
          <p:cNvPr id="6" name="Text 4"/>
          <p:cNvSpPr txBox="1"/>
          <p:nvPr/>
        </p:nvSpPr>
        <p:spPr>
          <a:xfrm>
            <a:off x="6309360" y="2148840"/>
            <a:ext cx="5212080" cy="31089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Thử với 2 đến 3 người bán qua mentor doanh nghiệp (vòng 3)</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Đo tỷ lệ gợi ý được nhận, bỏ qua, người dùng tự làm</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Đối chiếu thêm giỏ trước và sau ghim, có khoảng tin cậy, ghi "quan sát"</a:t>
            </a:r>
            <a:endParaRPr lang="en-US" sz="1600" dirty="0"/>
          </a:p>
          <a:p>
            <a:pPr marL="203200" indent="-203200">
              <a:spcAft>
                <a:spcPts val="900"/>
              </a:spcAft>
              <a:buSzPct val="100000"/>
              <a:buChar char="•"/>
            </a:pPr>
            <a:r>
              <a:rPr lang="en-US" sz="1600" dirty="0">
                <a:solidFill>
                  <a:srgbClr val="2A2522"/>
                </a:solidFill>
                <a:latin typeface="Calibri" pitchFamily="34" charset="0"/>
                <a:ea typeface="Calibri" pitchFamily="34" charset="-122"/>
                <a:cs typeface="Calibri" pitchFamily="34" charset="-120"/>
              </a:rPr>
              <a:t>Đánh giá ngoại tuyến trên dữ liệu có sự đồng ý, nói rõ giới hạn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640080" y="457200"/>
            <a:ext cx="10881360" cy="1005840"/>
          </a:xfrm>
          <a:prstGeom prst="rect">
            <a:avLst/>
          </a:prstGeom>
          <a:noFill/>
          <a:ln/>
        </p:spPr>
        <p:txBody>
          <a:bodyPr wrap="square" lIns="0" tIns="0" rIns="0" bIns="0" rtlCol="0" anchor="t"/>
          <a:lstStyle/>
          <a:p>
            <a:pPr indent="0" marL="0">
              <a:buNone/>
            </a:pPr>
            <a:r>
              <a:rPr lang="en-US" sz="3400" dirty="0">
                <a:solidFill>
                  <a:srgbClr val="2A2522"/>
                </a:solidFill>
                <a:latin typeface="Calibri" pitchFamily="34" charset="0"/>
                <a:ea typeface="Calibri" pitchFamily="34" charset="-122"/>
                <a:cs typeface="Calibri" pitchFamily="34" charset="-120"/>
              </a:rPr>
              <a:t>Lộ trình đến chung kết: sản phẩm có cơ sở dữ liệu thật</a:t>
            </a:r>
            <a:endParaRPr lang="en-US" sz="3400" dirty="0"/>
          </a:p>
        </p:txBody>
      </p:sp>
      <p:sp>
        <p:nvSpPr>
          <p:cNvPr id="3" name="Shape 1"/>
          <p:cNvSpPr/>
          <p:nvPr/>
        </p:nvSpPr>
        <p:spPr>
          <a:xfrm>
            <a:off x="640080" y="2011680"/>
            <a:ext cx="2606040" cy="0"/>
          </a:xfrm>
          <a:prstGeom prst="line">
            <a:avLst/>
          </a:prstGeom>
          <a:noFill/>
          <a:ln w="12700">
            <a:solidFill>
              <a:srgbClr val="2A2522"/>
            </a:solidFill>
            <a:prstDash val="solid"/>
          </a:ln>
        </p:spPr>
      </p:sp>
      <p:sp>
        <p:nvSpPr>
          <p:cNvPr id="4" name="Shape 2"/>
          <p:cNvSpPr/>
          <p:nvPr/>
        </p:nvSpPr>
        <p:spPr>
          <a:xfrm>
            <a:off x="640080" y="1874520"/>
            <a:ext cx="274320" cy="274320"/>
          </a:xfrm>
          <a:prstGeom prst="ellipse">
            <a:avLst/>
          </a:prstGeom>
          <a:solidFill>
            <a:srgbClr val="2A2522"/>
          </a:solidFill>
          <a:ln w="25400">
            <a:solidFill>
              <a:srgbClr val="F6F3EE"/>
            </a:solidFill>
            <a:prstDash val="solid"/>
          </a:ln>
        </p:spPr>
      </p:sp>
      <p:sp>
        <p:nvSpPr>
          <p:cNvPr id="5" name="Text 3"/>
          <p:cNvSpPr txBox="1"/>
          <p:nvPr/>
        </p:nvSpPr>
        <p:spPr>
          <a:xfrm>
            <a:off x="640080" y="2331720"/>
            <a:ext cx="2606040" cy="365760"/>
          </a:xfrm>
          <a:prstGeom prst="rect">
            <a:avLst/>
          </a:prstGeom>
          <a:noFill/>
          <a:ln/>
        </p:spPr>
        <p:txBody>
          <a:bodyPr wrap="square" lIns="0" tIns="0" rIns="0" bIns="0" rtlCol="0" anchor="t"/>
          <a:lstStyle/>
          <a:p>
            <a:pPr indent="0" marL="0">
              <a:buNone/>
            </a:pPr>
            <a:r>
              <a:rPr lang="en-US" sz="1400" b="1" dirty="0">
                <a:solidFill>
                  <a:srgbClr val="9E3B2B"/>
                </a:solidFill>
                <a:latin typeface="Calibri" pitchFamily="34" charset="0"/>
                <a:ea typeface="Calibri" pitchFamily="34" charset="-122"/>
                <a:cs typeface="Calibri" pitchFamily="34" charset="-120"/>
              </a:rPr>
              <a:t>14 – 25/10</a:t>
            </a:r>
            <a:endParaRPr lang="en-US" sz="1400" dirty="0"/>
          </a:p>
        </p:txBody>
      </p:sp>
      <p:sp>
        <p:nvSpPr>
          <p:cNvPr id="6" name="Text 4"/>
          <p:cNvSpPr txBox="1"/>
          <p:nvPr/>
        </p:nvSpPr>
        <p:spPr>
          <a:xfrm>
            <a:off x="640080" y="2743200"/>
            <a:ext cx="2606040" cy="822960"/>
          </a:xfrm>
          <a:prstGeom prst="rect">
            <a:avLst/>
          </a:prstGeom>
          <a:noFill/>
          <a:ln/>
        </p:spPr>
        <p:txBody>
          <a:bodyPr wrap="square" lIns="0" tIns="0" rIns="0" bIns="0" rtlCol="0" anchor="t"/>
          <a:lstStyle/>
          <a:p>
            <a:pPr indent="0" marL="0">
              <a:buNone/>
            </a:pPr>
            <a:r>
              <a:rPr lang="en-US" sz="2200" dirty="0">
                <a:solidFill>
                  <a:srgbClr val="2A2522"/>
                </a:solidFill>
                <a:latin typeface="Calibri" pitchFamily="34" charset="0"/>
                <a:ea typeface="Calibri" pitchFamily="34" charset="-122"/>
                <a:cs typeface="Calibri" pitchFamily="34" charset="-120"/>
              </a:rPr>
              <a:t>Hoàn tất vòng 2</a:t>
            </a:r>
            <a:endParaRPr lang="en-US" sz="2200" dirty="0"/>
          </a:p>
        </p:txBody>
      </p:sp>
      <p:sp>
        <p:nvSpPr>
          <p:cNvPr id="7" name="Text 5"/>
          <p:cNvSpPr txBox="1"/>
          <p:nvPr/>
        </p:nvSpPr>
        <p:spPr>
          <a:xfrm>
            <a:off x="640080" y="3657600"/>
            <a:ext cx="2606040" cy="1645920"/>
          </a:xfrm>
          <a:prstGeom prst="rect">
            <a:avLst/>
          </a:prstGeom>
          <a:noFill/>
          <a:ln/>
        </p:spPr>
        <p:txBody>
          <a:bodyPr wrap="square" lIns="0" tIns="0" rIns="0" bIns="0" rtlCol="0" anchor="t"/>
          <a:lstStyle/>
          <a:p>
            <a:pPr indent="0" marL="0">
              <a:buNone/>
            </a:pPr>
            <a:r>
              <a:rPr lang="en-US" sz="1400" dirty="0">
                <a:solidFill>
                  <a:srgbClr val="5A5047"/>
                </a:solidFill>
                <a:latin typeface="Calibri" pitchFamily="34" charset="0"/>
                <a:ea typeface="Calibri" pitchFamily="34" charset="-122"/>
                <a:cs typeface="Calibri" pitchFamily="34" charset="-120"/>
              </a:rPr>
              <a:t>Slide 19/10, trình bày 22/10, poster 25/10</a:t>
            </a:r>
            <a:endParaRPr lang="en-US" sz="1400" dirty="0"/>
          </a:p>
        </p:txBody>
      </p:sp>
      <p:sp>
        <p:nvSpPr>
          <p:cNvPr id="8" name="Shape 6"/>
          <p:cNvSpPr/>
          <p:nvPr/>
        </p:nvSpPr>
        <p:spPr>
          <a:xfrm>
            <a:off x="3429000" y="2011680"/>
            <a:ext cx="2606040" cy="0"/>
          </a:xfrm>
          <a:prstGeom prst="line">
            <a:avLst/>
          </a:prstGeom>
          <a:noFill/>
          <a:ln w="12700">
            <a:solidFill>
              <a:srgbClr val="2A2522"/>
            </a:solidFill>
            <a:prstDash val="solid"/>
          </a:ln>
        </p:spPr>
      </p:sp>
      <p:sp>
        <p:nvSpPr>
          <p:cNvPr id="9" name="Shape 7"/>
          <p:cNvSpPr/>
          <p:nvPr/>
        </p:nvSpPr>
        <p:spPr>
          <a:xfrm>
            <a:off x="3429000" y="1874520"/>
            <a:ext cx="274320" cy="274320"/>
          </a:xfrm>
          <a:prstGeom prst="ellipse">
            <a:avLst/>
          </a:prstGeom>
          <a:solidFill>
            <a:srgbClr val="2A2522"/>
          </a:solidFill>
          <a:ln w="25400">
            <a:solidFill>
              <a:srgbClr val="F6F3EE"/>
            </a:solidFill>
            <a:prstDash val="solid"/>
          </a:ln>
        </p:spPr>
      </p:sp>
      <p:sp>
        <p:nvSpPr>
          <p:cNvPr id="10" name="Text 8"/>
          <p:cNvSpPr txBox="1"/>
          <p:nvPr/>
        </p:nvSpPr>
        <p:spPr>
          <a:xfrm>
            <a:off x="3429000" y="2331720"/>
            <a:ext cx="2606040" cy="365760"/>
          </a:xfrm>
          <a:prstGeom prst="rect">
            <a:avLst/>
          </a:prstGeom>
          <a:noFill/>
          <a:ln/>
        </p:spPr>
        <p:txBody>
          <a:bodyPr wrap="square" lIns="0" tIns="0" rIns="0" bIns="0" rtlCol="0" anchor="t"/>
          <a:lstStyle/>
          <a:p>
            <a:pPr indent="0" marL="0">
              <a:buNone/>
            </a:pPr>
            <a:r>
              <a:rPr lang="en-US" sz="1400" b="1" dirty="0">
                <a:solidFill>
                  <a:srgbClr val="9E3B2B"/>
                </a:solidFill>
                <a:latin typeface="Calibri" pitchFamily="34" charset="0"/>
                <a:ea typeface="Calibri" pitchFamily="34" charset="-122"/>
                <a:cs typeface="Calibri" pitchFamily="34" charset="-120"/>
              </a:rPr>
              <a:t>01 – 10/11</a:t>
            </a:r>
            <a:endParaRPr lang="en-US" sz="1400" dirty="0"/>
          </a:p>
        </p:txBody>
      </p:sp>
      <p:sp>
        <p:nvSpPr>
          <p:cNvPr id="11" name="Text 9"/>
          <p:cNvSpPr txBox="1"/>
          <p:nvPr/>
        </p:nvSpPr>
        <p:spPr>
          <a:xfrm>
            <a:off x="3429000" y="2743200"/>
            <a:ext cx="2606040" cy="822960"/>
          </a:xfrm>
          <a:prstGeom prst="rect">
            <a:avLst/>
          </a:prstGeom>
          <a:noFill/>
          <a:ln/>
        </p:spPr>
        <p:txBody>
          <a:bodyPr wrap="square" lIns="0" tIns="0" rIns="0" bIns="0" rtlCol="0" anchor="t"/>
          <a:lstStyle/>
          <a:p>
            <a:pPr indent="0" marL="0">
              <a:buNone/>
            </a:pPr>
            <a:r>
              <a:rPr lang="en-US" sz="2200" dirty="0">
                <a:solidFill>
                  <a:srgbClr val="2A2522"/>
                </a:solidFill>
                <a:latin typeface="Calibri" pitchFamily="34" charset="0"/>
                <a:ea typeface="Calibri" pitchFamily="34" charset="-122"/>
                <a:cs typeface="Calibri" pitchFamily="34" charset="-120"/>
              </a:rPr>
              <a:t>Vòng 3</a:t>
            </a:r>
            <a:endParaRPr lang="en-US" sz="2200" dirty="0"/>
          </a:p>
        </p:txBody>
      </p:sp>
      <p:sp>
        <p:nvSpPr>
          <p:cNvPr id="12" name="Text 10"/>
          <p:cNvSpPr txBox="1"/>
          <p:nvPr/>
        </p:nvSpPr>
        <p:spPr>
          <a:xfrm>
            <a:off x="3429000" y="3657600"/>
            <a:ext cx="2606040" cy="1645920"/>
          </a:xfrm>
          <a:prstGeom prst="rect">
            <a:avLst/>
          </a:prstGeom>
          <a:noFill/>
          <a:ln/>
        </p:spPr>
        <p:txBody>
          <a:bodyPr wrap="square" lIns="0" tIns="0" rIns="0" bIns="0" rtlCol="0" anchor="t"/>
          <a:lstStyle/>
          <a:p>
            <a:pPr indent="0" marL="0">
              <a:buNone/>
            </a:pPr>
            <a:r>
              <a:rPr lang="en-US" sz="1400" dirty="0">
                <a:solidFill>
                  <a:srgbClr val="5A5047"/>
                </a:solidFill>
                <a:latin typeface="Calibri" pitchFamily="34" charset="0"/>
                <a:ea typeface="Calibri" pitchFamily="34" charset="-122"/>
                <a:cs typeface="Calibri" pitchFamily="34" charset="-120"/>
              </a:rPr>
              <a:t>Poster bình chọn, mentor doanh nghiệp tư vấn, tìm người bán thử nghiệm</a:t>
            </a:r>
            <a:endParaRPr lang="en-US" sz="1400" dirty="0"/>
          </a:p>
        </p:txBody>
      </p:sp>
      <p:sp>
        <p:nvSpPr>
          <p:cNvPr id="13" name="Shape 11"/>
          <p:cNvSpPr/>
          <p:nvPr/>
        </p:nvSpPr>
        <p:spPr>
          <a:xfrm>
            <a:off x="6217920" y="2011680"/>
            <a:ext cx="2606040" cy="0"/>
          </a:xfrm>
          <a:prstGeom prst="line">
            <a:avLst/>
          </a:prstGeom>
          <a:noFill/>
          <a:ln w="12700">
            <a:solidFill>
              <a:srgbClr val="2A2522"/>
            </a:solidFill>
            <a:prstDash val="solid"/>
          </a:ln>
        </p:spPr>
      </p:sp>
      <p:sp>
        <p:nvSpPr>
          <p:cNvPr id="14" name="Shape 12"/>
          <p:cNvSpPr/>
          <p:nvPr/>
        </p:nvSpPr>
        <p:spPr>
          <a:xfrm>
            <a:off x="6217920" y="1874520"/>
            <a:ext cx="274320" cy="274320"/>
          </a:xfrm>
          <a:prstGeom prst="ellipse">
            <a:avLst/>
          </a:prstGeom>
          <a:solidFill>
            <a:srgbClr val="2A2522"/>
          </a:solidFill>
          <a:ln w="25400">
            <a:solidFill>
              <a:srgbClr val="F6F3EE"/>
            </a:solidFill>
            <a:prstDash val="solid"/>
          </a:ln>
        </p:spPr>
      </p:sp>
      <p:sp>
        <p:nvSpPr>
          <p:cNvPr id="15" name="Text 13"/>
          <p:cNvSpPr txBox="1"/>
          <p:nvPr/>
        </p:nvSpPr>
        <p:spPr>
          <a:xfrm>
            <a:off x="6217920" y="2331720"/>
            <a:ext cx="2606040" cy="365760"/>
          </a:xfrm>
          <a:prstGeom prst="rect">
            <a:avLst/>
          </a:prstGeom>
          <a:noFill/>
          <a:ln/>
        </p:spPr>
        <p:txBody>
          <a:bodyPr wrap="square" lIns="0" tIns="0" rIns="0" bIns="0" rtlCol="0" anchor="t"/>
          <a:lstStyle/>
          <a:p>
            <a:pPr indent="0" marL="0">
              <a:buNone/>
            </a:pPr>
            <a:r>
              <a:rPr lang="en-US" sz="1400" b="1" dirty="0">
                <a:solidFill>
                  <a:srgbClr val="9E3B2B"/>
                </a:solidFill>
                <a:latin typeface="Calibri" pitchFamily="34" charset="0"/>
                <a:ea typeface="Calibri" pitchFamily="34" charset="-122"/>
                <a:cs typeface="Calibri" pitchFamily="34" charset="-120"/>
              </a:rPr>
              <a:t>Tháng 11</a:t>
            </a:r>
            <a:endParaRPr lang="en-US" sz="1400" dirty="0"/>
          </a:p>
        </p:txBody>
      </p:sp>
      <p:sp>
        <p:nvSpPr>
          <p:cNvPr id="16" name="Text 14"/>
          <p:cNvSpPr txBox="1"/>
          <p:nvPr/>
        </p:nvSpPr>
        <p:spPr>
          <a:xfrm>
            <a:off x="6217920" y="2743200"/>
            <a:ext cx="2606040" cy="822960"/>
          </a:xfrm>
          <a:prstGeom prst="rect">
            <a:avLst/>
          </a:prstGeom>
          <a:noFill/>
          <a:ln/>
        </p:spPr>
        <p:txBody>
          <a:bodyPr wrap="square" lIns="0" tIns="0" rIns="0" bIns="0" rtlCol="0" anchor="t"/>
          <a:lstStyle/>
          <a:p>
            <a:pPr indent="0" marL="0">
              <a:buNone/>
            </a:pPr>
            <a:r>
              <a:rPr lang="en-US" sz="2200" dirty="0">
                <a:solidFill>
                  <a:srgbClr val="2A2522"/>
                </a:solidFill>
                <a:latin typeface="Calibri" pitchFamily="34" charset="0"/>
                <a:ea typeface="Calibri" pitchFamily="34" charset="-122"/>
                <a:cs typeface="Calibri" pitchFamily="34" charset="-120"/>
              </a:rPr>
              <a:t>Dựng lại sản phẩm</a:t>
            </a:r>
            <a:endParaRPr lang="en-US" sz="2200" dirty="0"/>
          </a:p>
        </p:txBody>
      </p:sp>
      <p:sp>
        <p:nvSpPr>
          <p:cNvPr id="17" name="Text 15"/>
          <p:cNvSpPr txBox="1"/>
          <p:nvPr/>
        </p:nvSpPr>
        <p:spPr>
          <a:xfrm>
            <a:off x="6217920" y="3657600"/>
            <a:ext cx="2606040" cy="1645920"/>
          </a:xfrm>
          <a:prstGeom prst="rect">
            <a:avLst/>
          </a:prstGeom>
          <a:noFill/>
          <a:ln/>
        </p:spPr>
        <p:txBody>
          <a:bodyPr wrap="square" lIns="0" tIns="0" rIns="0" bIns="0" rtlCol="0" anchor="t"/>
          <a:lstStyle/>
          <a:p>
            <a:pPr indent="0" marL="0">
              <a:buNone/>
            </a:pPr>
            <a:r>
              <a:rPr lang="en-US" sz="1400" dirty="0">
                <a:solidFill>
                  <a:srgbClr val="5A5047"/>
                </a:solidFill>
                <a:latin typeface="Calibri" pitchFamily="34" charset="0"/>
                <a:ea typeface="Calibri" pitchFamily="34" charset="-122"/>
                <a:cs typeface="Calibri" pitchFamily="34" charset="-120"/>
              </a:rPr>
              <a:t>Giao diện mới theo mockup, lưu vào cơ sở dữ liệu, nguồn dữ liệu chính thức</a:t>
            </a:r>
            <a:endParaRPr lang="en-US" sz="1400" dirty="0"/>
          </a:p>
        </p:txBody>
      </p:sp>
      <p:sp>
        <p:nvSpPr>
          <p:cNvPr id="18" name="Shape 16"/>
          <p:cNvSpPr/>
          <p:nvPr/>
        </p:nvSpPr>
        <p:spPr>
          <a:xfrm>
            <a:off x="9006840" y="2011680"/>
            <a:ext cx="2606040" cy="0"/>
          </a:xfrm>
          <a:prstGeom prst="line">
            <a:avLst/>
          </a:prstGeom>
          <a:noFill/>
          <a:ln w="12700">
            <a:solidFill>
              <a:srgbClr val="2A2522"/>
            </a:solidFill>
            <a:prstDash val="solid"/>
          </a:ln>
        </p:spPr>
      </p:sp>
      <p:sp>
        <p:nvSpPr>
          <p:cNvPr id="19" name="Shape 17"/>
          <p:cNvSpPr/>
          <p:nvPr/>
        </p:nvSpPr>
        <p:spPr>
          <a:xfrm>
            <a:off x="9006840" y="1874520"/>
            <a:ext cx="274320" cy="274320"/>
          </a:xfrm>
          <a:prstGeom prst="ellipse">
            <a:avLst/>
          </a:prstGeom>
          <a:solidFill>
            <a:srgbClr val="9E3B2B"/>
          </a:solidFill>
          <a:ln w="25400">
            <a:solidFill>
              <a:srgbClr val="F6F3EE"/>
            </a:solidFill>
            <a:prstDash val="solid"/>
          </a:ln>
        </p:spPr>
      </p:sp>
      <p:sp>
        <p:nvSpPr>
          <p:cNvPr id="20" name="Text 18"/>
          <p:cNvSpPr txBox="1"/>
          <p:nvPr/>
        </p:nvSpPr>
        <p:spPr>
          <a:xfrm>
            <a:off x="9006840" y="2331720"/>
            <a:ext cx="2606040" cy="365760"/>
          </a:xfrm>
          <a:prstGeom prst="rect">
            <a:avLst/>
          </a:prstGeom>
          <a:noFill/>
          <a:ln/>
        </p:spPr>
        <p:txBody>
          <a:bodyPr wrap="square" lIns="0" tIns="0" rIns="0" bIns="0" rtlCol="0" anchor="t"/>
          <a:lstStyle/>
          <a:p>
            <a:pPr indent="0" marL="0">
              <a:buNone/>
            </a:pPr>
            <a:r>
              <a:rPr lang="en-US" sz="1400" b="1" dirty="0">
                <a:solidFill>
                  <a:srgbClr val="9E3B2B"/>
                </a:solidFill>
                <a:latin typeface="Calibri" pitchFamily="34" charset="0"/>
                <a:ea typeface="Calibri" pitchFamily="34" charset="-122"/>
                <a:cs typeface="Calibri" pitchFamily="34" charset="-120"/>
              </a:rPr>
              <a:t>Đầu tháng 12</a:t>
            </a:r>
            <a:endParaRPr lang="en-US" sz="1400" dirty="0"/>
          </a:p>
        </p:txBody>
      </p:sp>
      <p:sp>
        <p:nvSpPr>
          <p:cNvPr id="21" name="Text 19"/>
          <p:cNvSpPr txBox="1"/>
          <p:nvPr/>
        </p:nvSpPr>
        <p:spPr>
          <a:xfrm>
            <a:off x="9006840" y="2743200"/>
            <a:ext cx="2606040" cy="822960"/>
          </a:xfrm>
          <a:prstGeom prst="rect">
            <a:avLst/>
          </a:prstGeom>
          <a:noFill/>
          <a:ln/>
        </p:spPr>
        <p:txBody>
          <a:bodyPr wrap="square" lIns="0" tIns="0" rIns="0" bIns="0" rtlCol="0" anchor="t"/>
          <a:lstStyle/>
          <a:p>
            <a:pPr indent="0" marL="0">
              <a:buNone/>
            </a:pPr>
            <a:r>
              <a:rPr lang="en-US" sz="2200" dirty="0">
                <a:solidFill>
                  <a:srgbClr val="2A2522"/>
                </a:solidFill>
                <a:latin typeface="Calibri" pitchFamily="34" charset="0"/>
                <a:ea typeface="Calibri" pitchFamily="34" charset="-122"/>
                <a:cs typeface="Calibri" pitchFamily="34" charset="-120"/>
              </a:rPr>
              <a:t>Chung kết</a:t>
            </a:r>
            <a:endParaRPr lang="en-US" sz="2200" dirty="0"/>
          </a:p>
        </p:txBody>
      </p:sp>
      <p:sp>
        <p:nvSpPr>
          <p:cNvPr id="22" name="Text 20"/>
          <p:cNvSpPr txBox="1"/>
          <p:nvPr/>
        </p:nvSpPr>
        <p:spPr>
          <a:xfrm>
            <a:off x="9006840" y="3657600"/>
            <a:ext cx="2606040" cy="1645920"/>
          </a:xfrm>
          <a:prstGeom prst="rect">
            <a:avLst/>
          </a:prstGeom>
          <a:noFill/>
          <a:ln/>
        </p:spPr>
        <p:txBody>
          <a:bodyPr wrap="square" lIns="0" tIns="0" rIns="0" bIns="0" rtlCol="0" anchor="t"/>
          <a:lstStyle/>
          <a:p>
            <a:pPr indent="0" marL="0">
              <a:buNone/>
            </a:pPr>
            <a:r>
              <a:rPr lang="en-US" sz="1400" dirty="0">
                <a:solidFill>
                  <a:srgbClr val="5A5047"/>
                </a:solidFill>
                <a:latin typeface="Calibri" pitchFamily="34" charset="0"/>
                <a:ea typeface="Calibri" pitchFamily="34" charset="-122"/>
                <a:cs typeface="Calibri" pitchFamily="34" charset="-120"/>
              </a:rPr>
              <a:t>Demo kết nối cơ sở dữ liệu, trả lời phản biện</a:t>
            </a:r>
            <a:endParaRPr lang="en-US" sz="1400" dirty="0"/>
          </a:p>
        </p:txBody>
      </p:sp>
      <p:sp>
        <p:nvSpPr>
          <p:cNvPr id="23" name="Text 21"/>
          <p:cNvSpPr txBox="1"/>
          <p:nvPr/>
        </p:nvSpPr>
        <p:spPr>
          <a:xfrm>
            <a:off x="640080" y="5577840"/>
            <a:ext cx="10881360" cy="548640"/>
          </a:xfrm>
          <a:prstGeom prst="rect">
            <a:avLst/>
          </a:prstGeom>
          <a:noFill/>
          <a:ln/>
        </p:spPr>
        <p:txBody>
          <a:bodyPr wrap="square" lIns="0" tIns="0" rIns="0" bIns="0" rtlCol="0" anchor="t"/>
          <a:lstStyle/>
          <a:p>
            <a:pPr indent="0" marL="0">
              <a:buNone/>
            </a:pPr>
            <a:r>
              <a:rPr lang="en-US" sz="1600" dirty="0">
                <a:solidFill>
                  <a:srgbClr val="2A2522"/>
                </a:solidFill>
                <a:latin typeface="Calibri" pitchFamily="34" charset="0"/>
                <a:ea typeface="Calibri" pitchFamily="34" charset="-122"/>
                <a:cs typeface="Calibri" pitchFamily="34" charset="-120"/>
              </a:rPr>
              <a:t>Chung kết chiếm 80% điểm và yêu cầu demo kết nối cơ sở dữ liệu, nên đó là việc ưu tiên số một sau hôm nay.</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047"/>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1737360"/>
            <a:ext cx="7315200" cy="1097280"/>
          </a:xfrm>
          <a:prstGeom prst="rect">
            <a:avLst/>
          </a:prstGeom>
          <a:noFill/>
          <a:ln/>
        </p:spPr>
        <p:txBody>
          <a:bodyPr wrap="square" lIns="0" tIns="0" rIns="0" bIns="0" rtlCol="0" anchor="t"/>
          <a:lstStyle/>
          <a:p>
            <a:pPr indent="0" marL="0">
              <a:buNone/>
            </a:pPr>
            <a:r>
              <a:rPr lang="en-US" sz="5400" dirty="0">
                <a:solidFill>
                  <a:srgbClr val="F6F3EE"/>
                </a:solidFill>
                <a:latin typeface="Calibri" pitchFamily="34" charset="0"/>
                <a:ea typeface="Calibri" pitchFamily="34" charset="-122"/>
                <a:cs typeface="Calibri" pitchFamily="34" charset="-120"/>
              </a:rPr>
              <a:t>Cảm ơn hội đồng</a:t>
            </a:r>
            <a:endParaRPr lang="en-US" sz="5400" dirty="0"/>
          </a:p>
        </p:txBody>
      </p:sp>
      <p:sp>
        <p:nvSpPr>
          <p:cNvPr id="3" name="Text 1"/>
          <p:cNvSpPr txBox="1"/>
          <p:nvPr/>
        </p:nvSpPr>
        <p:spPr>
          <a:xfrm>
            <a:off x="731520" y="3108960"/>
            <a:ext cx="7498080" cy="1280160"/>
          </a:xfrm>
          <a:prstGeom prst="rect">
            <a:avLst/>
          </a:prstGeom>
          <a:noFill/>
          <a:ln/>
        </p:spPr>
        <p:txBody>
          <a:bodyPr wrap="square" lIns="0" tIns="0" rIns="0" bIns="0" rtlCol="0" anchor="t"/>
          <a:lstStyle/>
          <a:p>
            <a:pPr indent="0" marL="0">
              <a:buNone/>
            </a:pPr>
            <a:r>
              <a:rPr lang="en-US" sz="2200" dirty="0">
                <a:solidFill>
                  <a:srgbClr val="EFE6D3"/>
                </a:solidFill>
                <a:latin typeface="Calibri" pitchFamily="34" charset="0"/>
                <a:ea typeface="Calibri" pitchFamily="34" charset="-122"/>
                <a:cs typeface="Calibri" pitchFamily="34" charset="-120"/>
              </a:rPr>
              <a:t>LiveLift giúp người bán biết nên ghim gì tiếp theo, và luôn nói rõ điều gì đã biết, điều gì chưa.</a:t>
            </a:r>
            <a:endParaRPr lang="en-US" sz="2200" dirty="0"/>
          </a:p>
        </p:txBody>
      </p:sp>
      <p:sp>
        <p:nvSpPr>
          <p:cNvPr id="4" name="Text 2"/>
          <p:cNvSpPr txBox="1"/>
          <p:nvPr/>
        </p:nvSpPr>
        <p:spPr>
          <a:xfrm>
            <a:off x="731520" y="5120640"/>
            <a:ext cx="7315200" cy="822960"/>
          </a:xfrm>
          <a:prstGeom prst="rect">
            <a:avLst/>
          </a:prstGeom>
          <a:noFill/>
          <a:ln/>
        </p:spPr>
        <p:txBody>
          <a:bodyPr wrap="square" lIns="0" tIns="0" rIns="0" bIns="0" rtlCol="0" anchor="t"/>
          <a:lstStyle/>
          <a:p>
            <a:pPr indent="0" marL="0">
              <a:buNone/>
            </a:pPr>
            <a:r>
              <a:rPr lang="en-US" sz="1400" dirty="0">
                <a:solidFill>
                  <a:srgbClr val="B9B6AD"/>
                </a:solidFill>
                <a:latin typeface="Calibri" pitchFamily="34" charset="0"/>
                <a:ea typeface="Calibri" pitchFamily="34" charset="-122"/>
                <a:cs typeface="Calibri" pitchFamily="34" charset="-120"/>
              </a:rPr>
              <a:t>Nhóm LiveLift · AISC26-0039</a:t>
            </a:r>
            <a:endParaRPr lang="en-US" sz="1400" dirty="0"/>
          </a:p>
          <a:p>
            <a:pPr indent="0" marL="0">
              <a:buNone/>
            </a:pPr>
            <a:r>
              <a:rPr lang="en-US" sz="1400" dirty="0">
                <a:solidFill>
                  <a:srgbClr val="B9B6AD"/>
                </a:solidFill>
                <a:latin typeface="Calibri" pitchFamily="34" charset="0"/>
                <a:ea typeface="Calibri" pitchFamily="34" charset="-122"/>
                <a:cs typeface="Calibri" pitchFamily="34" charset="-120"/>
              </a:rPr>
              <a:t>Ngô Bình Minh · Lê Xuân Khánh · Ngô Lâm Tiến</a:t>
            </a:r>
            <a:endParaRPr lang="en-US" sz="1400" dirty="0"/>
          </a:p>
        </p:txBody>
      </p:sp>
      <p:sp>
        <p:nvSpPr>
          <p:cNvPr id="5" name="Shape 3"/>
          <p:cNvSpPr/>
          <p:nvPr/>
        </p:nvSpPr>
        <p:spPr>
          <a:xfrm rot="180000">
            <a:off x="8595360" y="1828800"/>
            <a:ext cx="2926080" cy="2377440"/>
          </a:xfrm>
          <a:prstGeom prst="rect">
            <a:avLst/>
          </a:prstGeom>
          <a:solidFill>
            <a:srgbClr val="FBF7EF"/>
          </a:solidFill>
          <a:ln w="12700">
            <a:solidFill>
              <a:srgbClr val="FBF7EF"/>
            </a:solidFill>
            <a:prstDash val="solid"/>
          </a:ln>
          <a:effectLst>
            <a:outerShdw sx="100000" sy="100000" kx="0" ky="0" algn="bl" rotWithShape="0" blurRad="177800" dist="50800" dir="5400000">
              <a:srgbClr val="000000">
                <a:alpha val="40000"/>
              </a:srgbClr>
            </a:outerShdw>
          </a:effectLst>
        </p:spPr>
      </p:sp>
      <p:sp>
        <p:nvSpPr>
          <p:cNvPr id="6" name="Text 4"/>
          <p:cNvSpPr txBox="1"/>
          <p:nvPr/>
        </p:nvSpPr>
        <p:spPr>
          <a:xfrm rot="180000">
            <a:off x="8869680" y="2514600"/>
            <a:ext cx="2377440" cy="822960"/>
          </a:xfrm>
          <a:prstGeom prst="rect">
            <a:avLst/>
          </a:prstGeom>
          <a:noFill/>
          <a:ln/>
        </p:spPr>
        <p:txBody>
          <a:bodyPr wrap="square" lIns="0" tIns="0" rIns="0" bIns="0" rtlCol="0" anchor="t"/>
          <a:lstStyle/>
          <a:p>
            <a:pPr indent="0" marL="0">
              <a:buNone/>
            </a:pPr>
            <a:r>
              <a:rPr lang="en-US" sz="3600" dirty="0">
                <a:solidFill>
                  <a:srgbClr val="2A2522"/>
                </a:solidFill>
                <a:latin typeface="Calibri" pitchFamily="34" charset="0"/>
                <a:ea typeface="Calibri" pitchFamily="34" charset="-122"/>
                <a:cs typeface="Calibri" pitchFamily="34" charset="-120"/>
              </a:rPr>
              <a:t>Hỏi đáp</a:t>
            </a:r>
            <a:endParaRPr lang="en-US" sz="3600" dirty="0"/>
          </a:p>
        </p:txBody>
      </p:sp>
      <p:sp>
        <p:nvSpPr>
          <p:cNvPr id="7" name="Text 5"/>
          <p:cNvSpPr txBox="1"/>
          <p:nvPr/>
        </p:nvSpPr>
        <p:spPr>
          <a:xfrm rot="180000">
            <a:off x="8869680" y="3246120"/>
            <a:ext cx="2377440" cy="457200"/>
          </a:xfrm>
          <a:prstGeom prst="rect">
            <a:avLst/>
          </a:prstGeom>
          <a:noFill/>
          <a:ln/>
        </p:spPr>
        <p:txBody>
          <a:bodyPr wrap="square" lIns="0" tIns="0" rIns="0" bIns="0" rtlCol="0" anchor="t"/>
          <a:lstStyle/>
          <a:p>
            <a:pPr indent="0" marL="0">
              <a:buNone/>
            </a:pPr>
            <a:r>
              <a:rPr lang="en-US" sz="1600" dirty="0">
                <a:solidFill>
                  <a:srgbClr val="5A5047"/>
                </a:solidFill>
                <a:latin typeface="Calibri" pitchFamily="34" charset="0"/>
                <a:ea typeface="Calibri" pitchFamily="34" charset="-122"/>
                <a:cs typeface="Calibri" pitchFamily="34" charset="-120"/>
              </a:rPr>
              <a:t>5 phút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LiveLift - AISC26-0039</dc:title>
  <dc:subject>PptxGenJS Presentation</dc:subject>
  <dc:creator>Nhóm LiveLift</dc:creator>
  <cp:lastModifiedBy>Nhóm LiveLift</cp:lastModifiedBy>
  <cp:revision>1</cp:revision>
  <dcterms:created xsi:type="dcterms:W3CDTF">2026-10-09T07:26:24Z</dcterms:created>
  <dcterms:modified xsi:type="dcterms:W3CDTF">2026-10-09T07:26:24Z</dcterms:modified>
</cp:coreProperties>
</file>